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8" r:id="rId2"/>
    <p:sldId id="368" r:id="rId3"/>
    <p:sldId id="366" r:id="rId4"/>
    <p:sldId id="296" r:id="rId5"/>
    <p:sldId id="297" r:id="rId6"/>
    <p:sldId id="298" r:id="rId7"/>
    <p:sldId id="372" r:id="rId8"/>
    <p:sldId id="373" r:id="rId9"/>
    <p:sldId id="312" r:id="rId10"/>
    <p:sldId id="317" r:id="rId11"/>
    <p:sldId id="288" r:id="rId12"/>
    <p:sldId id="283" r:id="rId13"/>
    <p:sldId id="305" r:id="rId14"/>
    <p:sldId id="308" r:id="rId15"/>
    <p:sldId id="285" r:id="rId16"/>
    <p:sldId id="309" r:id="rId17"/>
    <p:sldId id="291" r:id="rId18"/>
    <p:sldId id="320" r:id="rId19"/>
    <p:sldId id="369" r:id="rId20"/>
    <p:sldId id="316" r:id="rId21"/>
    <p:sldId id="321" r:id="rId22"/>
    <p:sldId id="354" r:id="rId23"/>
    <p:sldId id="355" r:id="rId24"/>
    <p:sldId id="352" r:id="rId25"/>
    <p:sldId id="356" r:id="rId26"/>
    <p:sldId id="357" r:id="rId27"/>
    <p:sldId id="322" r:id="rId28"/>
    <p:sldId id="362" r:id="rId29"/>
    <p:sldId id="346" r:id="rId30"/>
    <p:sldId id="370" r:id="rId31"/>
    <p:sldId id="347" r:id="rId32"/>
    <p:sldId id="348" r:id="rId33"/>
    <p:sldId id="363" r:id="rId34"/>
    <p:sldId id="364" r:id="rId35"/>
    <p:sldId id="365" r:id="rId36"/>
    <p:sldId id="358" r:id="rId37"/>
    <p:sldId id="359" r:id="rId38"/>
    <p:sldId id="360" r:id="rId39"/>
    <p:sldId id="361" r:id="rId40"/>
  </p:sldIdLst>
  <p:sldSz cx="12192000" cy="6858000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4" autoAdjust="0"/>
    <p:restoredTop sz="99120" autoAdjust="0"/>
  </p:normalViewPr>
  <p:slideViewPr>
    <p:cSldViewPr>
      <p:cViewPr varScale="1">
        <p:scale>
          <a:sx n="106" d="100"/>
          <a:sy n="106" d="100"/>
        </p:scale>
        <p:origin x="46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E99C1B-7992-4DE0-84FD-EEE4D5BF1DDB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hu-H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u-H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BEF11CF-1419-4869-98E1-73C8EC683D0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72603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11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84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26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81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1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26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71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2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89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8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56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68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62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2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19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52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51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95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78F72-289A-4AD8-8D3B-6AE470033C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0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115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28670"/>
            <a:ext cx="10972800" cy="5197493"/>
          </a:xfrm>
        </p:spPr>
        <p:txBody>
          <a:bodyPr/>
          <a:lstStyle>
            <a:lvl1pPr>
              <a:defRPr sz="2000"/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7294A-B2F4-453F-8730-55ED88D6F6EC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F8C94-7F77-4429-BBA9-DB8773933D77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A1CB-62B8-4DD3-A6C7-91A7B757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1636E-F910-48E5-A523-BA040761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056E8-689A-4BEE-BE30-F3B91F0AFD71}" type="datetimeFigureOut">
              <a:rPr lang="hu-HU" smtClean="0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8E20A-AB3C-409D-912E-531B3684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04634-F9D8-46B6-B1C9-D35448E2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2D3953-5336-41BD-91DC-CB9DCDB4DD8D}" type="slidenum">
              <a:rPr lang="hu-HU" smtClean="0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62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D2974-8DCA-408A-A24B-084D94B9B35D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AA078-01E9-443E-88B0-729B82C63B2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878A2-A0B3-42C0-95C6-F9CBBD586CEA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3F441-6427-4C92-A1D0-48934F8EA662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80729"/>
            <a:ext cx="5384800" cy="514543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0729"/>
            <a:ext cx="5384800" cy="514543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B6B02-5A4A-4EB1-A545-7F2EF74A7E78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CAAA5-B8F5-49C4-8B30-A7038316FE7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right big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80729"/>
            <a:ext cx="3614192" cy="514543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7808" y="980729"/>
            <a:ext cx="7214592" cy="514543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B6B02-5A4A-4EB1-A545-7F2EF74A7E78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CAAA5-B8F5-49C4-8B30-A7038316FE7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521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B2A88-5AE6-4463-81B2-11A3309B2061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14665-D79B-4043-8FBA-3B2E29B6ADAC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558B9-E348-4AA0-9B88-14FC2F99308D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A93E5-BC3E-4D53-A5AA-FD0DFAD72DAF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8C463-2AE3-44E6-85A2-A3AB2A38F5F4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6C62-B8AC-4389-B860-C46374CA4C3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D9991-E5EC-48D2-9355-8650C9FA5CF2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23679-925F-4B20-B83D-EFD4A0362A0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B0131-B452-4877-AEC4-E0E2CABD986B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5FD17-BE6A-4638-94B6-03EC12D2AE2B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28374-B605-463C-84D3-A80A0B845A86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90B6D-8C43-4F23-A2DA-49DA050DFFC5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891D5-DCC1-4B1B-A9C3-68D315FFF877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11B68-6AD6-47AD-AD35-29F7BF2393AB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34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81075"/>
            <a:ext cx="5384800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981075"/>
            <a:ext cx="5384800" cy="2732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65564"/>
            <a:ext cx="5384800" cy="27320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124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56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980729"/>
            <a:ext cx="10972800" cy="514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0056E8-689A-4BEE-BE30-F3B91F0AFD71}" type="datetimeFigureOut">
              <a:rPr lang="hu-HU"/>
              <a:pPr>
                <a:defRPr/>
              </a:pPr>
              <a:t>2023. 11. 02.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2D3953-5336-41BD-91DC-CB9DCDB4DD8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49" r:id="rId3"/>
    <p:sldLayoutId id="2147483651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3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8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0.png"/><Relationship Id="rId7" Type="http://schemas.openxmlformats.org/officeDocument/2006/relationships/image" Target="../media/image41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581400" y="1844825"/>
            <a:ext cx="7339136" cy="1758801"/>
          </a:xfrm>
        </p:spPr>
        <p:txBody>
          <a:bodyPr/>
          <a:lstStyle/>
          <a:p>
            <a:pPr algn="l"/>
            <a:r>
              <a:rPr lang="sr-Latn-RS" sz="4000"/>
              <a:t>Linearani matematički modeli</a:t>
            </a:r>
            <a:endParaRPr lang="sr-Latn-CS" sz="4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581400" y="4114801"/>
            <a:ext cx="6019800" cy="1527175"/>
          </a:xfrm>
        </p:spPr>
        <p:txBody>
          <a:bodyPr/>
          <a:lstStyle/>
          <a:p>
            <a:pPr algn="l">
              <a:defRPr/>
            </a:pPr>
            <a:r>
              <a:rPr lang="en-US" sz="2400" dirty="0" err="1"/>
              <a:t>Modeliranje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simulacija</a:t>
            </a:r>
            <a:r>
              <a:rPr lang="en-US" sz="2400" dirty="0"/>
              <a:t> </a:t>
            </a:r>
            <a:r>
              <a:rPr lang="sr-Latn-RS" sz="2400" dirty="0"/>
              <a:t>s</a:t>
            </a:r>
            <a:r>
              <a:rPr lang="en-US" sz="2400" dirty="0" err="1"/>
              <a:t>istema</a:t>
            </a:r>
            <a:endParaRPr lang="sr-Latn-RS" sz="2400" dirty="0"/>
          </a:p>
          <a:p>
            <a:pPr algn="l">
              <a:defRPr/>
            </a:pPr>
            <a:r>
              <a:rPr lang="sr-Latn-RS" sz="2400" dirty="0"/>
              <a:t>Upravljanje, modelovanje i simulacija sistema</a:t>
            </a:r>
            <a:endParaRPr lang="sr-Latn-CS" sz="2400" dirty="0"/>
          </a:p>
        </p:txBody>
      </p:sp>
      <p:grpSp>
        <p:nvGrpSpPr>
          <p:cNvPr id="3076" name="Group 7"/>
          <p:cNvGrpSpPr>
            <a:grpSpLocks/>
          </p:cNvGrpSpPr>
          <p:nvPr/>
        </p:nvGrpSpPr>
        <p:grpSpPr bwMode="auto">
          <a:xfrm>
            <a:off x="2362200" y="381000"/>
            <a:ext cx="990600" cy="914400"/>
            <a:chOff x="990600" y="381000"/>
            <a:chExt cx="990600" cy="914400"/>
          </a:xfrm>
        </p:grpSpPr>
        <p:sp>
          <p:nvSpPr>
            <p:cNvPr id="7" name="Rounded Rectangle 6"/>
            <p:cNvSpPr/>
            <p:nvPr/>
          </p:nvSpPr>
          <p:spPr>
            <a:xfrm>
              <a:off x="990600" y="381000"/>
              <a:ext cx="990600" cy="914400"/>
            </a:xfrm>
            <a:prstGeom prst="roundRect">
              <a:avLst>
                <a:gd name="adj" fmla="val 7238"/>
              </a:avLst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6800" y="457200"/>
              <a:ext cx="847725" cy="77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581400" y="460376"/>
            <a:ext cx="5181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sl-SI" sz="1600" b="1" cap="all" dirty="0">
                <a:ln>
                  <a:solidFill>
                    <a:srgbClr val="0070C0"/>
                  </a:solidFill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Univerzitet u Novom Sadu</a:t>
            </a:r>
            <a:endParaRPr lang="sr-Latn-CS" sz="1600" b="1" cap="all" dirty="0">
              <a:ln>
                <a:solidFill>
                  <a:srgbClr val="0070C0"/>
                </a:solidFill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>
              <a:spcBef>
                <a:spcPts val="0"/>
              </a:spcBef>
              <a:defRPr/>
            </a:pPr>
            <a:r>
              <a:rPr lang="sl-SI" sz="1600" b="1" cap="all" dirty="0">
                <a:ln>
                  <a:solidFill>
                    <a:srgbClr val="0070C0"/>
                  </a:solidFill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Fakultet tehničkih nauka</a:t>
            </a:r>
          </a:p>
          <a:p>
            <a:pPr>
              <a:spcBef>
                <a:spcPts val="0"/>
              </a:spcBef>
              <a:defRPr/>
            </a:pPr>
            <a:r>
              <a:rPr lang="sl-SI" sz="1600" b="1" cap="all" dirty="0">
                <a:ln>
                  <a:solidFill>
                    <a:srgbClr val="0070C0"/>
                  </a:solidFill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Katedra za Automatiku i upravljanje sistemima </a:t>
            </a:r>
            <a:endParaRPr lang="en-US" sz="1600" b="1" cap="all" dirty="0">
              <a:ln>
                <a:solidFill>
                  <a:srgbClr val="0070C0"/>
                </a:solidFill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9000" y="381000"/>
            <a:ext cx="76200" cy="3733800"/>
          </a:xfrm>
          <a:prstGeom prst="rect">
            <a:avLst/>
          </a:prstGeom>
          <a:gradFill>
            <a:gsLst>
              <a:gs pos="0">
                <a:schemeClr val="accent3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FF2B-463D-4A6E-8657-2AB7A8FF4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Osobine linearnih modela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0E550-49C0-46B7-A075-425A4593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5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err="1"/>
              <a:t>Osobine</a:t>
            </a:r>
            <a:r>
              <a:rPr lang="en-US" dirty="0"/>
              <a:t> </a:t>
            </a:r>
            <a:r>
              <a:rPr lang="en-US" dirty="0" err="1"/>
              <a:t>linearnih</a:t>
            </a:r>
            <a:r>
              <a:rPr lang="en-US" dirty="0"/>
              <a:t> </a:t>
            </a:r>
            <a:r>
              <a:rPr lang="en-US" dirty="0" err="1"/>
              <a:t>modela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/>
              <a:t>Model je linearan ako ispunjava osobine</a:t>
            </a:r>
            <a:r>
              <a:rPr lang="en-US" dirty="0"/>
              <a:t>: </a:t>
            </a: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s</a:t>
            </a:r>
            <a:r>
              <a:rPr lang="en-US" dirty="0" err="1"/>
              <a:t>uperpozicij</a:t>
            </a:r>
            <a:r>
              <a:rPr lang="sr-Latn-RS" dirty="0"/>
              <a:t>a</a:t>
            </a:r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homogenost</a:t>
            </a:r>
            <a:r>
              <a:rPr lang="en-US" dirty="0"/>
              <a:t> </a:t>
            </a: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stacionarnost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735960" y="1412167"/>
                <a:ext cx="44899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1412167"/>
                <a:ext cx="4489947" cy="400110"/>
              </a:xfrm>
              <a:prstGeom prst="rect">
                <a:avLst/>
              </a:prstGeom>
              <a:blipFill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735961" y="1854457"/>
                <a:ext cx="324826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1854457"/>
                <a:ext cx="3248262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35960" y="2884818"/>
                <a:ext cx="331905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2884818"/>
                <a:ext cx="3319050" cy="4001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735961" y="4340286"/>
                <a:ext cx="2769797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4340286"/>
                <a:ext cx="2769797" cy="439736"/>
              </a:xfrm>
              <a:prstGeom prst="rect">
                <a:avLst/>
              </a:prstGeom>
              <a:blipFill>
                <a:blip r:embed="rId6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35960" y="3327108"/>
                <a:ext cx="125412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3327108"/>
                <a:ext cx="1254126" cy="400110"/>
              </a:xfrm>
              <a:prstGeom prst="rect">
                <a:avLst/>
              </a:prstGeom>
              <a:blipFill>
                <a:blip r:embed="rId7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35960" y="4818293"/>
                <a:ext cx="125412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818293"/>
                <a:ext cx="1254126" cy="40011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58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li je model linearan ?</a:t>
            </a:r>
          </a:p>
          <a:p>
            <a:endParaRPr lang="sr-Latn-RS" dirty="0"/>
          </a:p>
          <a:p>
            <a:r>
              <a:rPr lang="sr-Latn-RS" dirty="0"/>
              <a:t>Superpozicija: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Homogenost: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 err="1"/>
              <a:t>Stacionarnost</a:t>
            </a:r>
            <a:r>
              <a:rPr lang="sr-Latn-RS" dirty="0"/>
              <a:t>: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Jeste linearan.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361156" y="996207"/>
                <a:ext cx="17038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996207"/>
                <a:ext cx="1703800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361156" y="2169593"/>
                <a:ext cx="31733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2169593"/>
                <a:ext cx="3173369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361156" y="2565197"/>
                <a:ext cx="1414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2565197"/>
                <a:ext cx="1414746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361156" y="1773989"/>
                <a:ext cx="1440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1773989"/>
                <a:ext cx="14402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361156" y="2958051"/>
                <a:ext cx="25595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r-Latn-R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2958051"/>
                <a:ext cx="2559547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61156" y="3920499"/>
                <a:ext cx="24942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𝑚𝑢</m:t>
                          </m:r>
                        </m:e>
                      </m:d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𝑚𝑦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6" y="3920499"/>
                <a:ext cx="2494273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361157" y="5074408"/>
                <a:ext cx="23012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r-Latn-RS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157" y="5074408"/>
                <a:ext cx="2301207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7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li je linearan?</a:t>
            </a:r>
          </a:p>
          <a:p>
            <a:endParaRPr lang="sr-Latn-RS" dirty="0"/>
          </a:p>
          <a:p>
            <a:r>
              <a:rPr lang="sr-Latn-RS" dirty="0"/>
              <a:t>Nije! Ne važi princip homogenosti.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303912" y="981075"/>
                <a:ext cx="13569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𝑎𝑢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981075"/>
                <a:ext cx="135691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75620" y="2204864"/>
                <a:ext cx="684076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𝑎𝑢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𝑎𝑢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𝑚𝑢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620" y="2204864"/>
                <a:ext cx="6840760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46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li je linearan?</a:t>
            </a:r>
          </a:p>
          <a:p>
            <a:endParaRPr lang="sr-Latn-RS" dirty="0"/>
          </a:p>
          <a:p>
            <a:r>
              <a:rPr lang="sr-Latn-RS" dirty="0"/>
              <a:t>Nije! Ne važi princip superpozicije.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47928" y="989033"/>
                <a:ext cx="10640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8" y="989033"/>
                <a:ext cx="1064074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188804" y="2276873"/>
                <a:ext cx="5814392" cy="373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804" y="2276873"/>
                <a:ext cx="5814392" cy="373051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32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3497" y="980728"/>
                <a:ext cx="10972800" cy="5197493"/>
              </a:xfrm>
            </p:spPr>
            <p:txBody>
              <a:bodyPr/>
              <a:lstStyle/>
              <a:p>
                <a:r>
                  <a:rPr lang="sr-Latn-RS" dirty="0"/>
                  <a:t>Da li je model linearan 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Superpozicija: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sr-Latn-RS" dirty="0"/>
                  <a:t>Homogenost: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r-Latn-RS" dirty="0"/>
              </a:p>
              <a:p>
                <a:endParaRPr lang="sr-Latn-RS" dirty="0"/>
              </a:p>
              <a:p>
                <a:r>
                  <a:rPr lang="sr-Latn-RS" dirty="0" err="1"/>
                  <a:t>Stacionarnost</a:t>
                </a:r>
                <a:r>
                  <a:rPr lang="sr-Latn-R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r-Latn-RS" dirty="0"/>
              </a:p>
              <a:p>
                <a:endParaRPr lang="sr-Latn-RS" dirty="0"/>
              </a:p>
              <a:p>
                <a:r>
                  <a:rPr lang="sr-Latn-RS" dirty="0"/>
                  <a:t>Jeste linearan.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497" y="980728"/>
                <a:ext cx="10972800" cy="5197493"/>
              </a:xfrm>
              <a:blipFill>
                <a:blip r:embed="rId3"/>
                <a:stretch>
                  <a:fillRect l="-500" t="-704" b="-10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361156" y="163118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90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</a:t>
            </a:r>
            <a:r>
              <a:rPr lang="en-US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3497" y="980728"/>
                <a:ext cx="10972800" cy="5197493"/>
              </a:xfrm>
            </p:spPr>
            <p:txBody>
              <a:bodyPr/>
              <a:lstStyle/>
              <a:p>
                <a:r>
                  <a:rPr lang="sr-Latn-RS" dirty="0"/>
                  <a:t>Da li je model linearan 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Superpozicija: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r-Latn-R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(1−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r-Latn-R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Kada</a:t>
                </a:r>
                <a:r>
                  <a:rPr lang="en-US" dirty="0"/>
                  <a:t> se </a:t>
                </a:r>
                <a:r>
                  <a:rPr lang="en-US" dirty="0" err="1"/>
                  <a:t>skrati</a:t>
                </a:r>
                <a:r>
                  <a:rPr lang="en-US" dirty="0"/>
                  <a:t> </a:t>
                </a:r>
                <a:r>
                  <a:rPr lang="en-US" dirty="0" err="1"/>
                  <a:t>ostaje</a:t>
                </a:r>
                <a:r>
                  <a:rPr lang="en-US" dirty="0"/>
                  <a:t> </a:t>
                </a:r>
                <a:r>
                  <a:rPr lang="sr-Latn-RS" dirty="0"/>
                  <a:t>„višak“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</m:t>
                      </m:r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R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r-Latn-R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r-Latn-R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sr-Latn-RS" dirty="0"/>
              </a:p>
              <a:p>
                <a:endParaRPr lang="en-US" dirty="0"/>
              </a:p>
              <a:p>
                <a:r>
                  <a:rPr lang="en-US" dirty="0" err="1"/>
                  <a:t>Nije</a:t>
                </a:r>
                <a:r>
                  <a:rPr lang="sr-Latn-RS" dirty="0"/>
                  <a:t> linearan</a:t>
                </a:r>
                <a:r>
                  <a:rPr lang="en-US" dirty="0"/>
                  <a:t> </a:t>
                </a:r>
                <a:r>
                  <a:rPr lang="en-US" dirty="0" err="1"/>
                  <a:t>jer</a:t>
                </a:r>
                <a:r>
                  <a:rPr lang="en-US" dirty="0"/>
                  <a:t> </a:t>
                </a:r>
                <a:r>
                  <a:rPr lang="en-US" dirty="0" err="1"/>
                  <a:t>princip</a:t>
                </a:r>
                <a:r>
                  <a:rPr lang="en-US" dirty="0"/>
                  <a:t> </a:t>
                </a:r>
                <a:r>
                  <a:rPr lang="en-US" dirty="0" err="1"/>
                  <a:t>superpozicije</a:t>
                </a:r>
                <a:r>
                  <a:rPr lang="en-US" dirty="0"/>
                  <a:t> </a:t>
                </a:r>
                <a:r>
                  <a:rPr lang="en-US" dirty="0" err="1"/>
                  <a:t>nije</a:t>
                </a:r>
                <a:r>
                  <a:rPr lang="en-US" dirty="0"/>
                  <a:t> </a:t>
                </a:r>
                <a:r>
                  <a:rPr lang="en-US" dirty="0" err="1"/>
                  <a:t>zadovoljen</a:t>
                </a:r>
                <a:r>
                  <a:rPr lang="sr-Latn-R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497" y="980728"/>
                <a:ext cx="10972800" cy="5197493"/>
              </a:xfrm>
              <a:blipFill>
                <a:blip r:embed="rId3"/>
                <a:stretch>
                  <a:fillRect l="-500" t="-704" b="-2934"/>
                </a:stretch>
              </a:blipFill>
            </p:spPr>
            <p:txBody>
              <a:bodyPr/>
              <a:lstStyle/>
              <a:p>
                <a:r>
                  <a:rPr lang="sr-R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361156" y="163118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3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err="1"/>
              <a:t>Linearan</a:t>
            </a:r>
            <a:r>
              <a:rPr lang="en-US" dirty="0"/>
              <a:t> model: </a:t>
            </a:r>
            <a:r>
              <a:rPr lang="en-US" dirty="0" err="1"/>
              <a:t>primeri</a:t>
            </a:r>
            <a:r>
              <a:rPr lang="en-US" dirty="0"/>
              <a:t> </a:t>
            </a:r>
            <a:r>
              <a:rPr lang="en-US" dirty="0" err="1"/>
              <a:t>odziva</a:t>
            </a:r>
            <a:r>
              <a:rPr lang="en-US" dirty="0"/>
              <a:t> (</a:t>
            </a:r>
            <a:r>
              <a:rPr lang="en-US" dirty="0" err="1"/>
              <a:t>desno</a:t>
            </a:r>
            <a:r>
              <a:rPr lang="en-US" dirty="0"/>
              <a:t>)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pobudu</a:t>
            </a:r>
            <a:r>
              <a:rPr lang="en-US" dirty="0"/>
              <a:t> (</a:t>
            </a:r>
            <a:r>
              <a:rPr lang="en-US" dirty="0" err="1"/>
              <a:t>levo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138" y="1149227"/>
            <a:ext cx="8879723" cy="5979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2D931C-C6AF-3459-704E-A0E71C277117}"/>
              </a:ext>
            </a:extLst>
          </p:cNvPr>
          <p:cNvSpPr txBox="1"/>
          <p:nvPr/>
        </p:nvSpPr>
        <p:spPr>
          <a:xfrm>
            <a:off x="958511" y="191683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70781-2D30-D269-16A0-357EFDA1378F}"/>
              </a:ext>
            </a:extLst>
          </p:cNvPr>
          <p:cNvSpPr txBox="1"/>
          <p:nvPr/>
        </p:nvSpPr>
        <p:spPr>
          <a:xfrm>
            <a:off x="7896200" y="93543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Izlazi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5DEE8-6C87-3AE2-6F79-4282410BBFD0}"/>
              </a:ext>
            </a:extLst>
          </p:cNvPr>
          <p:cNvSpPr txBox="1"/>
          <p:nvPr/>
        </p:nvSpPr>
        <p:spPr>
          <a:xfrm>
            <a:off x="3946987" y="93543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Ulazi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D3235-D7F5-4013-726E-BE50C89D2E7D}"/>
              </a:ext>
            </a:extLst>
          </p:cNvPr>
          <p:cNvSpPr txBox="1"/>
          <p:nvPr/>
        </p:nvSpPr>
        <p:spPr>
          <a:xfrm>
            <a:off x="958511" y="314096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E2879-B3FC-9B6C-CF7D-7325C58FA90D}"/>
              </a:ext>
            </a:extLst>
          </p:cNvPr>
          <p:cNvSpPr txBox="1"/>
          <p:nvPr/>
        </p:nvSpPr>
        <p:spPr>
          <a:xfrm>
            <a:off x="958511" y="450912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E6FA61-8B5D-3AD2-DF9F-975D812F9E85}"/>
              </a:ext>
            </a:extLst>
          </p:cNvPr>
          <p:cNvSpPr txBox="1"/>
          <p:nvPr/>
        </p:nvSpPr>
        <p:spPr>
          <a:xfrm>
            <a:off x="958511" y="580526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07276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FF2B-463D-4A6E-8657-2AB7A8FF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Kakav model posmatramo?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BCDA-CDEC-4D23-B256-445651EF7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dirty="0"/>
              <a:t>Matematički model:</a:t>
            </a:r>
          </a:p>
          <a:p>
            <a:pPr lvl="1" eaLnBrk="1" hangingPunct="1"/>
            <a:r>
              <a:rPr lang="sr-Latn-CS" dirty="0"/>
              <a:t>dinamički</a:t>
            </a:r>
          </a:p>
          <a:p>
            <a:pPr lvl="1" eaLnBrk="1" hangingPunct="1"/>
            <a:r>
              <a:rPr lang="sr-Latn-CS" dirty="0"/>
              <a:t>vremenski kontinualan</a:t>
            </a:r>
          </a:p>
          <a:p>
            <a:pPr lvl="1" eaLnBrk="1" hangingPunct="1"/>
            <a:r>
              <a:rPr lang="sr-Latn-CS" dirty="0"/>
              <a:t>linearan</a:t>
            </a:r>
          </a:p>
          <a:p>
            <a:pPr lvl="1" eaLnBrk="1" hangingPunct="1"/>
            <a:r>
              <a:rPr lang="sr-Latn-CS" dirty="0"/>
              <a:t>sa koncentrisanim parametrima</a:t>
            </a:r>
            <a:endParaRPr lang="en-US" dirty="0"/>
          </a:p>
          <a:p>
            <a:pPr lvl="1" eaLnBrk="1" hangingPunct="1"/>
            <a:r>
              <a:rPr lang="sr-Latn-CS" dirty="0"/>
              <a:t>deterministički</a:t>
            </a:r>
          </a:p>
          <a:p>
            <a:pPr lvl="1" eaLnBrk="1" hangingPunct="1"/>
            <a:endParaRPr lang="sr-Latn-CS" dirty="0"/>
          </a:p>
          <a:p>
            <a:pPr eaLnBrk="1" hangingPunct="1"/>
            <a:r>
              <a:rPr lang="sr-Latn-CS" dirty="0"/>
              <a:t>Opisuje se običnim linearnim diferencijalnim jednačinama</a:t>
            </a:r>
          </a:p>
          <a:p>
            <a:pPr lvl="1" eaLnBrk="1" hangingPunct="1"/>
            <a:r>
              <a:rPr lang="sr-Latn-CS" dirty="0"/>
              <a:t>Sistem diferencijalnih jednačina 1. reda</a:t>
            </a:r>
            <a:endParaRPr lang="en-US" dirty="0"/>
          </a:p>
          <a:p>
            <a:pPr lvl="1" eaLnBrk="1" hangingPunct="1"/>
            <a:endParaRPr lang="sr-Latn-CS" dirty="0"/>
          </a:p>
          <a:p>
            <a:pPr eaLnBrk="1" hangingPunct="1"/>
            <a:endParaRPr lang="sr-Latn-CS" dirty="0"/>
          </a:p>
          <a:p>
            <a:pPr eaLnBrk="1" hangingPunct="1"/>
            <a:endParaRPr lang="sr-Latn-CS" dirty="0"/>
          </a:p>
          <a:p>
            <a:pPr eaLnBrk="1" hangingPunct="1"/>
            <a:r>
              <a:rPr lang="sr-Latn-CS" dirty="0"/>
              <a:t>Primena Laplasove transformacije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AD7C53-82BA-4A04-9298-26EA02EBF19F}"/>
              </a:ext>
            </a:extLst>
          </p:cNvPr>
          <p:cNvSpPr/>
          <p:nvPr/>
        </p:nvSpPr>
        <p:spPr>
          <a:xfrm>
            <a:off x="8256240" y="3552691"/>
            <a:ext cx="30243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CS" dirty="0"/>
              <a:t>Linearan m</a:t>
            </a:r>
            <a:r>
              <a:rPr lang="en-US" dirty="0" err="1"/>
              <a:t>atemati</a:t>
            </a:r>
            <a:r>
              <a:rPr lang="sr-Latn-CS" dirty="0"/>
              <a:t>č</a:t>
            </a:r>
            <a:r>
              <a:rPr lang="en-US" dirty="0" err="1"/>
              <a:t>ki</a:t>
            </a:r>
            <a:r>
              <a:rPr lang="en-US" dirty="0"/>
              <a:t> model</a:t>
            </a:r>
            <a:r>
              <a:rPr lang="sr-Latn-CS" dirty="0"/>
              <a:t> </a:t>
            </a:r>
          </a:p>
          <a:p>
            <a:pPr algn="ctr"/>
            <a:r>
              <a:rPr lang="sr-Latn-CS" dirty="0"/>
              <a:t>u prostoru stanja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49435-9585-42A5-B182-758EFDD23D23}"/>
              </a:ext>
            </a:extLst>
          </p:cNvPr>
          <p:cNvSpPr/>
          <p:nvPr/>
        </p:nvSpPr>
        <p:spPr>
          <a:xfrm>
            <a:off x="8256240" y="4947439"/>
            <a:ext cx="30243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Funkcija prenosa</a:t>
            </a:r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818A252-3266-4360-86DB-7333E46CA4FF}"/>
              </a:ext>
            </a:extLst>
          </p:cNvPr>
          <p:cNvSpPr/>
          <p:nvPr/>
        </p:nvSpPr>
        <p:spPr>
          <a:xfrm>
            <a:off x="7614977" y="3933056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03B1A3-93FC-4DA5-B285-F3A4F405CAB0}"/>
              </a:ext>
            </a:extLst>
          </p:cNvPr>
          <p:cNvSpPr/>
          <p:nvPr/>
        </p:nvSpPr>
        <p:spPr>
          <a:xfrm>
            <a:off x="7614977" y="5296627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4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FF2B-463D-4A6E-8657-2AB7A8FF4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Matemati</a:t>
            </a:r>
            <a:r>
              <a:rPr lang="sr-Latn-RS" dirty="0"/>
              <a:t>čki model u prostoru stanja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0E550-49C0-46B7-A075-425A4593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sr-Latn-RS" dirty="0"/>
              <a:t>P</a:t>
            </a:r>
            <a:r>
              <a:rPr lang="en-US" dirty="0" err="1"/>
              <a:t>romenljive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modela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C91DC-8FCC-4120-BF2D-3F31FC025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49525"/>
            <a:ext cx="5386917" cy="639762"/>
          </a:xfrm>
        </p:spPr>
        <p:txBody>
          <a:bodyPr/>
          <a:lstStyle/>
          <a:p>
            <a:r>
              <a:rPr lang="sr-Latn-RS" dirty="0"/>
              <a:t>Jedan ulaz – jedan izlaz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5A982-0A45-4283-9E7A-B4B497F1C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049525"/>
            <a:ext cx="5389033" cy="639762"/>
          </a:xfrm>
        </p:spPr>
        <p:txBody>
          <a:bodyPr/>
          <a:lstStyle/>
          <a:p>
            <a:r>
              <a:rPr lang="sr-Latn-RS" dirty="0"/>
              <a:t>Više ulaza/izlaza – </a:t>
            </a:r>
            <a:r>
              <a:rPr lang="sr-Latn-RS" i="1" dirty="0"/>
              <a:t>multivarijabilni</a:t>
            </a:r>
            <a:r>
              <a:rPr lang="sr-Latn-RS" dirty="0"/>
              <a:t> model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823" y="1988840"/>
            <a:ext cx="4080122" cy="21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14432-9656-434C-8D22-C7E73C981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6" y="2123240"/>
            <a:ext cx="3996170" cy="204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6467B-AE76-47F5-A15F-71D46ADCAC8A}"/>
                  </a:ext>
                </a:extLst>
              </p:cNvPr>
              <p:cNvSpPr txBox="1"/>
              <p:nvPr/>
            </p:nvSpPr>
            <p:spPr>
              <a:xfrm>
                <a:off x="6312024" y="4365104"/>
                <a:ext cx="4952831" cy="2061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r-Latn-RS" sz="2000" dirty="0">
                    <a:latin typeface="+mj-lt"/>
                  </a:rPr>
                  <a:t>Uvodimo vektore:</a:t>
                </a:r>
              </a:p>
              <a:p>
                <a:endParaRPr lang="sr-Latn-RS" sz="2000" dirty="0"/>
              </a:p>
              <a:p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RS" sz="2000" dirty="0"/>
                  <a:t>	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sr-Latn-RS" sz="2000" dirty="0"/>
                  <a:t>	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6467B-AE76-47F5-A15F-71D46ADCA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4" y="4365104"/>
                <a:ext cx="4952831" cy="2061013"/>
              </a:xfrm>
              <a:prstGeom prst="rect">
                <a:avLst/>
              </a:prstGeom>
              <a:blipFill>
                <a:blip r:embed="rId5"/>
                <a:stretch>
                  <a:fillRect l="-1230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49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sr-Latn-RS" dirty="0"/>
              <a:t>Linearan matematički model u prostoru stanja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D1C85-EB29-4EE1-A418-3FCAD9687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u razvijenom obliku: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Izvodi (promene u vremenu) promenljivih stanja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  <m:m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</m:m>
                  </m:oMath>
                </a14:m>
                <a:r>
                  <a:rPr lang="sr-Latn-RS" dirty="0"/>
                  <a:t>	</a:t>
                </a:r>
                <a:r>
                  <a:rPr lang="en-US" dirty="0"/>
                  <a:t> </a:t>
                </a:r>
                <a:r>
                  <a:rPr lang="sr-Latn-RS" dirty="0"/>
                  <a:t>	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Izlazi modela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  <m:m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</m:m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„kapice“ su bitne - imaju značenje promena (razlika) vrednosti u odnosu na nominalne vrednosti.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D1C85-EB29-4EE1-A418-3FCAD9687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6" t="-586" b="-2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16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Linearan matematički model u prostoru stanja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73F0E-C88C-4799-B5F2-B95AE642C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u vektorskom zapisu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b="1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b="1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b="1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sr-Latn-RS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b="1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sr-Latn-RS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73F0E-C88C-4799-B5F2-B95AE642C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6" t="-586" b="-4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93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0605E4-AC7A-425E-8F70-1AB5C434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mehani</a:t>
            </a:r>
            <a:r>
              <a:rPr lang="sr-Latn-RS" dirty="0"/>
              <a:t>č</a:t>
            </a:r>
            <a:r>
              <a:rPr lang="en-US" dirty="0" err="1"/>
              <a:t>kih</a:t>
            </a:r>
            <a:r>
              <a:rPr lang="en-US" dirty="0"/>
              <a:t> </a:t>
            </a:r>
            <a:r>
              <a:rPr lang="sr-Latn-RS" dirty="0"/>
              <a:t>s</a:t>
            </a:r>
            <a:r>
              <a:rPr lang="en-US" dirty="0" err="1"/>
              <a:t>istema</a:t>
            </a:r>
            <a:r>
              <a:rPr lang="en-US" dirty="0"/>
              <a:t> – </a:t>
            </a:r>
            <a:r>
              <a:rPr lang="sr-Latn-RS" dirty="0"/>
              <a:t>ranije rađeno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FA727-397E-4A15-BF58-CBAC1C4E8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28670"/>
                <a:ext cx="11297248" cy="523663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sr-Latn-RS" dirty="0"/>
                  <a:t>(oznake su promenjene radi usaglašavanja. Dodatno, neka su izlazi pozicije iz primera.)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r-Latn-R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r-Latn-R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r-Latn-R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r-Latn-R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sr-Latn-R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sr-Latn-R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sr-Latn-RS" dirty="0"/>
              </a:p>
              <a:p>
                <a:pPr marL="0" indent="0">
                  <a:buNone/>
                </a:pPr>
                <a:r>
                  <a:rPr lang="sr-Latn-RS" dirty="0"/>
                  <a:t>	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sr-Latn-R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r-Latn-R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sr-Latn-R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sr-Latn-R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sr-Latn-R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sr-Latn-R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sr-Latn-R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sr-Latn-R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sr-Latn-R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kapice</a:t>
                </a:r>
                <a:r>
                  <a:rPr lang="en-US" dirty="0"/>
                  <a:t> </a:t>
                </a:r>
                <a:r>
                  <a:rPr lang="en-US" dirty="0" err="1"/>
                  <a:t>nisu</a:t>
                </a:r>
                <a:r>
                  <a:rPr lang="en-US" dirty="0"/>
                  <a:t> </a:t>
                </a:r>
                <a:r>
                  <a:rPr lang="en-US" dirty="0" err="1"/>
                  <a:t>napisane</a:t>
                </a:r>
                <a:r>
                  <a:rPr lang="en-US" dirty="0"/>
                  <a:t>)</a:t>
                </a:r>
                <a:endParaRPr lang="sr-Latn-RS" dirty="0"/>
              </a:p>
              <a:p>
                <a:pPr marL="0" indent="0">
                  <a:buNone/>
                </a:pPr>
                <a:r>
                  <a:rPr lang="sr-Latn-RS" dirty="0"/>
                  <a:t>(voditi brigu o osobinama matričnih operacija, tj. množenje matrica nije komutativno.)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FA727-397E-4A15-BF58-CBAC1C4E8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28670"/>
                <a:ext cx="11297248" cy="5236634"/>
              </a:xfrm>
              <a:blipFill>
                <a:blip r:embed="rId2"/>
                <a:stretch>
                  <a:fillRect l="-540" t="-582"/>
                </a:stretch>
              </a:blipFill>
            </p:spPr>
            <p:txBody>
              <a:bodyPr/>
              <a:lstStyle/>
              <a:p>
                <a:r>
                  <a:rPr lang="sr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72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sr-Latn-RS" dirty="0"/>
              <a:t>(</a:t>
            </a:r>
            <a:r>
              <a:rPr lang="sr-Latn-RS"/>
              <a:t>In)varijantan</a:t>
            </a:r>
            <a:r>
              <a:rPr lang="sr-Latn-RS" dirty="0"/>
              <a:t>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/>
                  <a:t>Invarijantan model</a:t>
                </a:r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pPr lvl="1"/>
                <a:r>
                  <a:rPr lang="en-US" dirty="0"/>
                  <a:t>Model </a:t>
                </a:r>
                <a:r>
                  <a:rPr lang="en-US" dirty="0" err="1"/>
                  <a:t>nije</a:t>
                </a:r>
                <a:r>
                  <a:rPr lang="en-US" dirty="0"/>
                  <a:t> </a:t>
                </a:r>
                <a:r>
                  <a:rPr lang="en-US" dirty="0" err="1"/>
                  <a:t>vremenski</a:t>
                </a:r>
                <a:r>
                  <a:rPr lang="en-US" dirty="0"/>
                  <a:t> </a:t>
                </a:r>
                <a:r>
                  <a:rPr lang="en-US" dirty="0" err="1"/>
                  <a:t>promenljiv</a:t>
                </a:r>
                <a:r>
                  <a:rPr lang="en-US" dirty="0"/>
                  <a:t> </a:t>
                </a:r>
                <a:r>
                  <a:rPr lang="en-US" dirty="0" err="1"/>
                  <a:t>jer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matrice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sa</a:t>
                </a:r>
                <a:r>
                  <a:rPr lang="en-US" dirty="0"/>
                  <a:t> </a:t>
                </a:r>
                <a:r>
                  <a:rPr lang="en-US" dirty="0" err="1"/>
                  <a:t>konstantnim</a:t>
                </a:r>
                <a:r>
                  <a:rPr lang="en-US" dirty="0"/>
                  <a:t> </a:t>
                </a:r>
                <a:r>
                  <a:rPr lang="en-US" dirty="0" err="1"/>
                  <a:t>koeficijentima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Primetiti</a:t>
                </a:r>
                <a:r>
                  <a:rPr lang="en-US" dirty="0"/>
                  <a:t> da se </a:t>
                </a:r>
                <a:r>
                  <a:rPr lang="en-US" dirty="0" err="1"/>
                  <a:t>vrednosti</a:t>
                </a:r>
                <a:r>
                  <a:rPr lang="en-US" dirty="0"/>
                  <a:t> </a:t>
                </a:r>
                <a:r>
                  <a:rPr lang="en-US" dirty="0" err="1"/>
                  <a:t>signala</a:t>
                </a:r>
                <a:r>
                  <a:rPr lang="en-US" dirty="0"/>
                  <a:t> </a:t>
                </a:r>
                <a:r>
                  <a:rPr lang="en-US" dirty="0" err="1"/>
                  <a:t>ulaza</a:t>
                </a:r>
                <a:r>
                  <a:rPr lang="en-US" dirty="0"/>
                  <a:t>, </a:t>
                </a:r>
                <a:r>
                  <a:rPr lang="en-US" dirty="0" err="1"/>
                  <a:t>izlaza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 </a:t>
                </a:r>
                <a:r>
                  <a:rPr lang="en-US" dirty="0" err="1"/>
                  <a:t>promenljivih</a:t>
                </a:r>
                <a:r>
                  <a:rPr lang="en-US" dirty="0"/>
                  <a:t> </a:t>
                </a:r>
                <a:r>
                  <a:rPr lang="en-US" dirty="0" err="1"/>
                  <a:t>stanja</a:t>
                </a:r>
                <a:r>
                  <a:rPr lang="en-US" dirty="0"/>
                  <a:t> </a:t>
                </a:r>
                <a:r>
                  <a:rPr lang="en-US" dirty="0" err="1"/>
                  <a:t>menjaju</a:t>
                </a:r>
                <a:r>
                  <a:rPr lang="en-US" dirty="0"/>
                  <a:t> </a:t>
                </a:r>
                <a:r>
                  <a:rPr lang="en-US" dirty="0" err="1"/>
                  <a:t>sa</a:t>
                </a:r>
                <a:r>
                  <a:rPr lang="en-US" dirty="0"/>
                  <a:t> </a:t>
                </a:r>
                <a:r>
                  <a:rPr lang="en-US" dirty="0" err="1"/>
                  <a:t>vremenom</a:t>
                </a:r>
                <a:r>
                  <a:rPr lang="en-US" dirty="0"/>
                  <a:t>.</a:t>
                </a:r>
                <a:endParaRPr lang="sr-Latn-R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sr-Latn-RS" dirty="0"/>
              </a:p>
              <a:p>
                <a:r>
                  <a:rPr lang="sr-Latn-RS" dirty="0"/>
                  <a:t>Vremenski promenljiv model: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096000" y="3808227"/>
                <a:ext cx="41415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≡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08227"/>
                <a:ext cx="4141518" cy="369332"/>
              </a:xfrm>
              <a:prstGeom prst="rect">
                <a:avLst/>
              </a:prstGeom>
              <a:blipFill>
                <a:blip r:embed="rId4"/>
                <a:stretch>
                  <a:fillRect t="-120000" r="-11782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39616" y="1927676"/>
                <a:ext cx="2765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1927676"/>
                <a:ext cx="2765694" cy="369332"/>
              </a:xfrm>
              <a:prstGeom prst="rect">
                <a:avLst/>
              </a:prstGeom>
              <a:blipFill>
                <a:blip r:embed="rId5"/>
                <a:stretch>
                  <a:fillRect t="-4918" r="-220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639616" y="1484785"/>
                <a:ext cx="4318170" cy="390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  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1484785"/>
                <a:ext cx="4318170" cy="390941"/>
              </a:xfrm>
              <a:prstGeom prst="rect">
                <a:avLst/>
              </a:prstGeom>
              <a:blipFill>
                <a:blip r:embed="rId6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38209" y="4857066"/>
                <a:ext cx="33444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r-Latn-R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r-Latn-R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209" y="4857066"/>
                <a:ext cx="3344442" cy="369332"/>
              </a:xfrm>
              <a:prstGeom prst="rect">
                <a:avLst/>
              </a:prstGeom>
              <a:blipFill>
                <a:blip r:embed="rId7"/>
                <a:stretch>
                  <a:fillRect t="-5000" r="-182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638210" y="4414175"/>
                <a:ext cx="4897951" cy="390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sr-Latn-R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r-Latn-R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r-Latn-R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  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210" y="4414175"/>
                <a:ext cx="4897951" cy="390941"/>
              </a:xfrm>
              <a:prstGeom prst="rect">
                <a:avLst/>
              </a:prstGeom>
              <a:blipFill>
                <a:blip r:embed="rId8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546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Transformacija dif. jedn. višeg reda u sistem dif. jednačina 1. reda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980729"/>
                <a:ext cx="10972800" cy="5145436"/>
              </a:xfrm>
            </p:spPr>
            <p:txBody>
              <a:bodyPr/>
              <a:lstStyle/>
              <a:p>
                <a:r>
                  <a:rPr lang="sr-Latn-RS" dirty="0"/>
                  <a:t>Može </a:t>
                </a:r>
                <a:r>
                  <a:rPr lang="en-US" dirty="0"/>
                  <a:t>se </a:t>
                </a:r>
                <a:r>
                  <a:rPr lang="en-US" dirty="0" err="1"/>
                  <a:t>uraditi</a:t>
                </a:r>
                <a:r>
                  <a:rPr lang="en-US" dirty="0"/>
                  <a:t> </a:t>
                </a:r>
                <a:r>
                  <a:rPr lang="sr-Latn-RS" dirty="0"/>
                  <a:t>na mnogo načina, a </a:t>
                </a:r>
                <a:r>
                  <a:rPr lang="en-US" dirty="0" err="1"/>
                  <a:t>ovde</a:t>
                </a:r>
                <a:r>
                  <a:rPr lang="en-US" dirty="0"/>
                  <a:t> je </a:t>
                </a:r>
                <a:r>
                  <a:rPr lang="en-US" dirty="0" err="1"/>
                  <a:t>prikazan</a:t>
                </a:r>
                <a:r>
                  <a:rPr lang="en-US" dirty="0"/>
                  <a:t> </a:t>
                </a:r>
                <a:r>
                  <a:rPr lang="sr-Latn-RS" dirty="0"/>
                  <a:t>jedan način … </a:t>
                </a:r>
              </a:p>
              <a:p>
                <a:r>
                  <a:rPr lang="sr-Latn-RS" dirty="0"/>
                  <a:t>Posmatra se dif. jedn. </a:t>
                </a:r>
                <a14:m>
                  <m:oMath xmlns:m="http://schemas.openxmlformats.org/officeDocument/2006/math">
                    <m:r>
                      <a:rPr lang="sr-Latn-R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sr-Latn-RS" dirty="0"/>
                  <a:t>-tog reda (linearna, obična):</a:t>
                </a:r>
              </a:p>
              <a:p>
                <a:pPr marL="0" indent="0">
                  <a:buNone/>
                  <a:tabLst>
                    <a:tab pos="46355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sr-Latn-R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sr-Latn-RS" dirty="0"/>
                  <a:t> </a:t>
                </a:r>
              </a:p>
              <a:p>
                <a:endParaRPr lang="en-US" dirty="0"/>
              </a:p>
              <a:p>
                <a:r>
                  <a:rPr lang="sr-Latn-RS" dirty="0"/>
                  <a:t>Uvode se smene: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̈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	...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 </a:t>
                </a:r>
                <a:r>
                  <a:rPr lang="en-US" dirty="0" err="1"/>
                  <a:t>literaturi</a:t>
                </a:r>
                <a:r>
                  <a:rPr lang="en-US" dirty="0"/>
                  <a:t> </a:t>
                </a:r>
                <a:r>
                  <a:rPr lang="en-US" dirty="0" err="1"/>
                  <a:t>postoji</a:t>
                </a:r>
                <a:r>
                  <a:rPr lang="en-US" dirty="0"/>
                  <a:t> </a:t>
                </a:r>
                <a:r>
                  <a:rPr lang="en-US" dirty="0" err="1"/>
                  <a:t>nekoliko</a:t>
                </a:r>
                <a:r>
                  <a:rPr lang="en-US" dirty="0"/>
                  <a:t> </a:t>
                </a:r>
                <a:r>
                  <a:rPr lang="en-US" dirty="0" err="1"/>
                  <a:t>uobi</a:t>
                </a:r>
                <a:r>
                  <a:rPr lang="sr-Latn-RS" dirty="0"/>
                  <a:t>č</a:t>
                </a:r>
                <a:r>
                  <a:rPr lang="en-US" dirty="0" err="1"/>
                  <a:t>ajenih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sr-Latn-RS" dirty="0"/>
                  <a:t>č</a:t>
                </a:r>
                <a:r>
                  <a:rPr lang="en-US" dirty="0" err="1"/>
                  <a:t>ina</a:t>
                </a:r>
                <a:r>
                  <a:rPr lang="en-US" dirty="0"/>
                  <a:t> </a:t>
                </a:r>
                <a:r>
                  <a:rPr lang="sr-Latn-RS" dirty="0"/>
                  <a:t>ove transformacije i nazivaju se kanonske forme.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Pored njih, mogu se upotrebiti i druge smene, npr. (radi ideje)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sr-Latn-R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r-Latn-R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sr-Latn-R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r-Latn-R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̈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sr-Latn-RS" dirty="0"/>
                  <a:t> ...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980729"/>
                <a:ext cx="10972800" cy="5145436"/>
              </a:xfrm>
              <a:blipFill>
                <a:blip r:embed="rId3"/>
                <a:stretch>
                  <a:fillRect l="-556" t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9378DBA-C6DE-4650-A0E4-014AD41140B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575720" y="2492896"/>
                <a:ext cx="8280920" cy="2520280"/>
              </a:xfrm>
            </p:spPr>
            <p:txBody>
              <a:bodyPr/>
              <a:lstStyle/>
              <a:p>
                <a:r>
                  <a:rPr lang="sr-Latn-RS" dirty="0"/>
                  <a:t>Tada je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̈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⃛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en-US" dirty="0"/>
                  <a:t>		</a:t>
                </a:r>
                <a:r>
                  <a:rPr lang="sr-Latn-RS" dirty="0"/>
                  <a:t>...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sr-Latn-R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sr-Latn-R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9378DBA-C6DE-4650-A0E4-014AD4114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575720" y="2492896"/>
                <a:ext cx="8280920" cy="2520280"/>
              </a:xfrm>
              <a:blipFill>
                <a:blip r:embed="rId4"/>
                <a:stretch>
                  <a:fillRect l="-663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788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Transformacija dif. jedn. višeg reda u sistem dif. jednačina 1. reda</a:t>
            </a:r>
            <a:r>
              <a:rPr lang="en-US" dirty="0"/>
              <a:t>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980729"/>
                <a:ext cx="10887000" cy="5145436"/>
              </a:xfrm>
            </p:spPr>
            <p:txBody>
              <a:bodyPr/>
              <a:lstStyle/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r-Latn-RS" dirty="0"/>
                  <a:t> 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̈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r-Latn-R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⃛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en-US" dirty="0"/>
                  <a:t>		</a:t>
                </a:r>
                <a:r>
                  <a:rPr lang="sr-Latn-RS" dirty="0"/>
                  <a:t>...</a:t>
                </a:r>
              </a:p>
              <a:p>
                <a:pPr marL="0" indent="0">
                  <a:buNone/>
                  <a:tabLst>
                    <a:tab pos="461963" algn="l"/>
                    <a:tab pos="914400" algn="l"/>
                  </a:tabLst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sr-Latn-R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r-Latn-R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sr-Latn-R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sr-Latn-RS" dirty="0"/>
                  <a:t> </a:t>
                </a:r>
              </a:p>
              <a:p>
                <a:endParaRPr lang="sr-Latn-RS" dirty="0"/>
              </a:p>
              <a:p>
                <a:r>
                  <a:rPr lang="en-US" dirty="0"/>
                  <a:t>U </a:t>
                </a:r>
                <a:r>
                  <a:rPr lang="en-US" dirty="0" err="1"/>
                  <a:t>matri</a:t>
                </a:r>
                <a:r>
                  <a:rPr lang="sr-Latn-RS" dirty="0"/>
                  <a:t>čnom obliku (oblik je „prepoznatljiv“):</a:t>
                </a:r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	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0…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  <m:r>
                      <a:rPr lang="en-US" b="1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sr-Latn-RS" dirty="0"/>
              </a:p>
              <a:p>
                <a:pPr marL="0" indent="0">
                  <a:buNone/>
                  <a:tabLst>
                    <a:tab pos="457200" algn="l"/>
                  </a:tabLst>
                </a:pPr>
                <a:r>
                  <a:rPr lang="sr-Latn-RS" b="1" dirty="0"/>
                  <a:t>	</a:t>
                </a:r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980729"/>
                <a:ext cx="10887000" cy="5145436"/>
              </a:xfrm>
              <a:blipFill>
                <a:blip r:embed="rId3"/>
                <a:stretch>
                  <a:fillRect l="-504" b="-3673"/>
                </a:stretch>
              </a:blipFill>
            </p:spPr>
            <p:txBody>
              <a:bodyPr/>
              <a:lstStyle/>
              <a:p>
                <a:r>
                  <a:rPr lang="sr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949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FF2B-463D-4A6E-8657-2AB7A8FF4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Funkcija prenosa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0E550-49C0-46B7-A075-425A4593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prenosa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Obi</a:t>
                </a:r>
                <a:r>
                  <a:rPr lang="sr-Latn-RS" dirty="0"/>
                  <a:t>čna linearna diferencijalna jednačina modela 1 ulaz ‒ 1 izlaz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sr-Latn-RS" dirty="0"/>
                  <a:t>Primeni se Laplasova transformacija</a:t>
                </a:r>
              </a:p>
              <a:p>
                <a:pPr lvl="1"/>
                <a:r>
                  <a:rPr lang="sr-Latn-RS" dirty="0"/>
                  <a:t>model se nalazi u radnoj tački (</a:t>
                </a:r>
                <a:r>
                  <a:rPr lang="sr-Latn-RS" u="sng" dirty="0"/>
                  <a:t>sve početne vrednosti su </a:t>
                </a:r>
                <a:r>
                  <a:rPr lang="en-US" u="sng" dirty="0" err="1"/>
                  <a:t>nula</a:t>
                </a:r>
                <a:r>
                  <a:rPr lang="en-US" u="sng" dirty="0"/>
                  <a:t>!</a:t>
                </a:r>
                <a:r>
                  <a:rPr lang="sr-Latn-R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sr-Latn-RS" dirty="0"/>
              </a:p>
              <a:p>
                <a:pPr lvl="1"/>
                <a:endParaRPr lang="sr-Latn-RS" dirty="0"/>
              </a:p>
              <a:p>
                <a:r>
                  <a:rPr lang="sr-Latn-RS" dirty="0"/>
                  <a:t>Dobije se funkcija prenosa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sr-R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0712" y="5445225"/>
                <a:ext cx="668761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712" y="5445225"/>
                <a:ext cx="66876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955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sr-Latn-RS" dirty="0"/>
              <a:t>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/>
                  <a:t>Definicija: </a:t>
                </a:r>
                <a:br>
                  <a:rPr lang="sr-Latn-RS" dirty="0"/>
                </a:br>
                <a:r>
                  <a:rPr lang="sr-Latn-RS" b="1" dirty="0"/>
                  <a:t>Funkcija prenosa je </a:t>
                </a:r>
                <a:r>
                  <a:rPr lang="en-US" b="1" dirty="0" err="1"/>
                  <a:t>odnos</a:t>
                </a:r>
                <a:r>
                  <a:rPr lang="en-US" b="1" dirty="0"/>
                  <a:t> Laplasove </a:t>
                </a:r>
                <a:r>
                  <a:rPr lang="en-US" b="1" dirty="0" err="1"/>
                  <a:t>transformacije</a:t>
                </a:r>
                <a:r>
                  <a:rPr lang="en-US" b="1" dirty="0"/>
                  <a:t> </a:t>
                </a:r>
                <a:r>
                  <a:rPr lang="en-US" b="1" dirty="0" err="1"/>
                  <a:t>izlaznog</a:t>
                </a:r>
                <a:r>
                  <a:rPr lang="en-US" b="1" dirty="0"/>
                  <a:t>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b="1" dirty="0"/>
                  <a:t>) </a:t>
                </a:r>
                <a:r>
                  <a:rPr lang="en-US" b="1" dirty="0" err="1"/>
                  <a:t>i</a:t>
                </a:r>
                <a:r>
                  <a:rPr lang="en-US" b="1" dirty="0"/>
                  <a:t> </a:t>
                </a:r>
                <a:r>
                  <a:rPr lang="en-US" b="1" dirty="0" err="1"/>
                  <a:t>ulaznog</a:t>
                </a:r>
                <a:r>
                  <a:rPr lang="en-US" b="1" dirty="0"/>
                  <a:t>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b="1" dirty="0"/>
                  <a:t>) </a:t>
                </a:r>
                <a:r>
                  <a:rPr lang="en-US" b="1" dirty="0" err="1"/>
                  <a:t>signala</a:t>
                </a:r>
                <a:r>
                  <a:rPr lang="en-US" b="1" dirty="0"/>
                  <a:t>, </a:t>
                </a:r>
                <a:r>
                  <a:rPr lang="en-US" b="1" dirty="0" err="1"/>
                  <a:t>uz</a:t>
                </a:r>
                <a:r>
                  <a:rPr lang="en-US" b="1" dirty="0"/>
                  <a:t> </a:t>
                </a:r>
                <a:r>
                  <a:rPr lang="en-US" b="1" dirty="0" err="1"/>
                  <a:t>pretpostavku</a:t>
                </a:r>
                <a:r>
                  <a:rPr lang="en-US" b="1" dirty="0"/>
                  <a:t> da </a:t>
                </a:r>
                <a:r>
                  <a:rPr lang="en-US" b="1" dirty="0" err="1"/>
                  <a:t>su</a:t>
                </a:r>
                <a:r>
                  <a:rPr lang="en-US" b="1" dirty="0"/>
                  <a:t> </a:t>
                </a:r>
                <a:r>
                  <a:rPr lang="en-US" b="1" dirty="0" err="1"/>
                  <a:t>svi</a:t>
                </a:r>
                <a:r>
                  <a:rPr lang="en-US" b="1" dirty="0"/>
                  <a:t> </a:t>
                </a:r>
                <a:r>
                  <a:rPr lang="en-US" b="1" dirty="0" err="1"/>
                  <a:t>početni</a:t>
                </a:r>
                <a:r>
                  <a:rPr lang="en-US" b="1" dirty="0"/>
                  <a:t> </a:t>
                </a:r>
                <a:r>
                  <a:rPr lang="en-US" b="1" dirty="0" err="1"/>
                  <a:t>uslovi</a:t>
                </a:r>
                <a:r>
                  <a:rPr lang="en-US" b="1" dirty="0"/>
                  <a:t> </a:t>
                </a:r>
                <a:r>
                  <a:rPr lang="en-US" b="1" dirty="0" err="1"/>
                  <a:t>jednaki</a:t>
                </a:r>
                <a:r>
                  <a:rPr lang="en-US" b="1" dirty="0"/>
                  <a:t> </a:t>
                </a:r>
                <a:r>
                  <a:rPr lang="en-US" b="1" dirty="0" err="1"/>
                  <a:t>nuli</a:t>
                </a:r>
                <a:r>
                  <a:rPr lang="en-US" b="1" dirty="0"/>
                  <a:t> </a:t>
                </a:r>
                <a:r>
                  <a:rPr lang="en-US" b="1" dirty="0" err="1"/>
                  <a:t>i</a:t>
                </a:r>
                <a:r>
                  <a:rPr lang="en-US" b="1" dirty="0"/>
                  <a:t> da je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)≡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za</a:t>
                </a:r>
                <a:r>
                  <a:rPr lang="en-US" b="1" dirty="0"/>
                  <a:t> </a:t>
                </a:r>
                <a:r>
                  <a:rPr lang="en-US" b="1" dirty="0" err="1"/>
                  <a:t>svako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.</a:t>
                </a:r>
                <a:endParaRPr lang="sr-Latn-RS" b="1" dirty="0"/>
              </a:p>
              <a:p>
                <a:r>
                  <a:rPr lang="en-US" dirty="0" err="1"/>
                  <a:t>uzima</a:t>
                </a:r>
                <a:r>
                  <a:rPr lang="en-US" dirty="0"/>
                  <a:t> </a:t>
                </a:r>
                <a:r>
                  <a:rPr lang="en-US" dirty="0" err="1"/>
                  <a:t>samo</a:t>
                </a:r>
                <a:r>
                  <a:rPr lang="en-US" dirty="0"/>
                  <a:t> </a:t>
                </a:r>
                <a:r>
                  <a:rPr lang="en-US" dirty="0" err="1"/>
                  <a:t>odnos</a:t>
                </a:r>
                <a:r>
                  <a:rPr lang="en-US" dirty="0"/>
                  <a:t> </a:t>
                </a:r>
                <a:r>
                  <a:rPr lang="en-US" dirty="0" err="1"/>
                  <a:t>ulaz-izlaz</a:t>
                </a:r>
                <a:r>
                  <a:rPr lang="en-US" dirty="0"/>
                  <a:t> </a:t>
                </a:r>
                <a:endParaRPr lang="sr-Latn-RS" dirty="0"/>
              </a:p>
              <a:p>
                <a:r>
                  <a:rPr lang="en-US" dirty="0"/>
                  <a:t>ne </a:t>
                </a:r>
                <a:r>
                  <a:rPr lang="en-US" dirty="0" err="1"/>
                  <a:t>pruža</a:t>
                </a:r>
                <a:r>
                  <a:rPr lang="en-US" dirty="0"/>
                  <a:t> </a:t>
                </a:r>
                <a:r>
                  <a:rPr lang="en-US" dirty="0" err="1"/>
                  <a:t>nikakvu</a:t>
                </a:r>
                <a:r>
                  <a:rPr lang="en-US" dirty="0"/>
                  <a:t> </a:t>
                </a:r>
                <a:r>
                  <a:rPr lang="en-US" dirty="0" err="1"/>
                  <a:t>informaciju</a:t>
                </a:r>
                <a:r>
                  <a:rPr lang="en-US" dirty="0"/>
                  <a:t> o </a:t>
                </a:r>
                <a:r>
                  <a:rPr lang="en-US" dirty="0" err="1"/>
                  <a:t>unutrašnjoj</a:t>
                </a:r>
                <a:r>
                  <a:rPr lang="en-US" dirty="0"/>
                  <a:t> </a:t>
                </a:r>
                <a:r>
                  <a:rPr lang="en-US" dirty="0" err="1"/>
                  <a:t>strukturi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 </a:t>
                </a:r>
                <a:r>
                  <a:rPr lang="en-US" dirty="0" err="1"/>
                  <a:t>ponašanju</a:t>
                </a:r>
                <a:r>
                  <a:rPr lang="en-US" dirty="0"/>
                  <a:t> </a:t>
                </a:r>
                <a:r>
                  <a:rPr lang="en-US" dirty="0" err="1"/>
                  <a:t>sistema</a:t>
                </a:r>
                <a:r>
                  <a:rPr lang="en-US" dirty="0"/>
                  <a:t>  </a:t>
                </a:r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r>
                  <a:rPr lang="sr-Latn-RS" dirty="0"/>
                  <a:t>Predstavlja se količnikom polinoma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sr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081"/>
          <a:stretch/>
        </p:blipFill>
        <p:spPr bwMode="auto">
          <a:xfrm>
            <a:off x="4196560" y="3140968"/>
            <a:ext cx="3798880" cy="99814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5694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1CA3-5022-4B74-BCEC-93B415533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36B8-FB49-4ECD-9180-2445AF795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28670"/>
            <a:ext cx="10972800" cy="511157"/>
          </a:xfrm>
        </p:spPr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glasi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amortizera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BC88E0D6-DDEE-4E48-A6FF-4FD386A478DF}"/>
                  </a:ext>
                </a:extLst>
              </p:cNvPr>
              <p:cNvSpPr txBox="1"/>
              <p:nvPr/>
            </p:nvSpPr>
            <p:spPr bwMode="auto">
              <a:xfrm>
                <a:off x="1559496" y="1427489"/>
                <a:ext cx="6048672" cy="278113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𝑐𝑠𝑋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𝑘𝑋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BC88E0D6-DDEE-4E48-A6FF-4FD386A4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496" y="1427489"/>
                <a:ext cx="6048672" cy="2781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6619488-168E-4735-A508-35D3D4B3F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56" y="692696"/>
            <a:ext cx="2871198" cy="1831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BEAC6E5-EB86-44B5-AE7E-1AEE6458982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4214136"/>
                <a:ext cx="10972800" cy="2527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Kako </a:t>
                </a:r>
                <a:r>
                  <a:rPr lang="en-US" dirty="0" err="1"/>
                  <a:t>glasi</a:t>
                </a:r>
                <a:r>
                  <a:rPr lang="en-US" dirty="0"/>
                  <a:t> </a:t>
                </a:r>
                <a:r>
                  <a:rPr lang="en-US" dirty="0" err="1"/>
                  <a:t>odziv</a:t>
                </a:r>
                <a:r>
                  <a:rPr lang="en-US" dirty="0"/>
                  <a:t> </a:t>
                </a:r>
                <a:r>
                  <a:rPr lang="en-US" dirty="0" err="1"/>
                  <a:t>sistema</a:t>
                </a:r>
                <a:r>
                  <a:rPr lang="en-US" dirty="0"/>
                  <a:t> </a:t>
                </a:r>
                <a:r>
                  <a:rPr lang="en-US" dirty="0" err="1"/>
                  <a:t>ako</a:t>
                </a:r>
                <a:r>
                  <a:rPr lang="en-US" dirty="0"/>
                  <a:t> je </a:t>
                </a:r>
                <a:r>
                  <a:rPr lang="en-US" dirty="0" err="1"/>
                  <a:t>pobuda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dirty="0"/>
                  <a:t>?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+0.2)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1.25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+0.2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1+0.25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−1.25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−0.2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1+0.25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−2)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−1.25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−0.2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−2)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BEAC6E5-EB86-44B5-AE7E-1AEE64589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214136"/>
                <a:ext cx="10972800" cy="2527232"/>
              </a:xfrm>
              <a:prstGeom prst="rect">
                <a:avLst/>
              </a:prstGeom>
              <a:blipFill>
                <a:blip r:embed="rId4"/>
                <a:stretch>
                  <a:fillRect l="-500" t="-120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744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sr-Latn-RS" dirty="0"/>
              <a:t> – </a:t>
            </a:r>
            <a:r>
              <a:rPr lang="sr-Latn-RS" dirty="0" err="1"/>
              <a:t>faktorizovan</a:t>
            </a:r>
            <a:r>
              <a:rPr lang="sr-Latn-RS" dirty="0"/>
              <a:t> oblik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sr-Latn-R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sr-Latn-R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…(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gde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:</a:t>
                </a:r>
                <a:endParaRPr lang="sr-Latn-R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pojačanje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sr-Latn-R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b="1" dirty="0" err="1"/>
                  <a:t>nule</a:t>
                </a:r>
                <a:r>
                  <a:rPr lang="en-US" dirty="0"/>
                  <a:t> </a:t>
                </a:r>
                <a:r>
                  <a:rPr lang="en-US" dirty="0" err="1"/>
                  <a:t>sistema</a:t>
                </a:r>
                <a:r>
                  <a:rPr lang="en-US" dirty="0"/>
                  <a:t> </a:t>
                </a:r>
                <a:r>
                  <a:rPr lang="en-US" dirty="0" err="1"/>
                  <a:t>tj</a:t>
                </a:r>
                <a:r>
                  <a:rPr lang="en-US" dirty="0"/>
                  <a:t>. </a:t>
                </a:r>
                <a:r>
                  <a:rPr lang="en-US" dirty="0" err="1"/>
                  <a:t>koreni</a:t>
                </a:r>
                <a:r>
                  <a:rPr lang="en-US" dirty="0"/>
                  <a:t> </a:t>
                </a:r>
                <a:r>
                  <a:rPr lang="en-US" dirty="0" err="1"/>
                  <a:t>polinoma</a:t>
                </a:r>
                <a:r>
                  <a:rPr lang="en-US" dirty="0"/>
                  <a:t> </a:t>
                </a:r>
                <a:r>
                  <a:rPr lang="en-US" dirty="0" err="1"/>
                  <a:t>brojioca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r-Latn-R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b="1" dirty="0" err="1"/>
                  <a:t>polovi</a:t>
                </a:r>
                <a:r>
                  <a:rPr lang="en-US" b="1" dirty="0"/>
                  <a:t> </a:t>
                </a:r>
                <a:r>
                  <a:rPr lang="en-US" dirty="0" err="1"/>
                  <a:t>sistema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…(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 err="1"/>
                  <a:t>Polovi</a:t>
                </a:r>
                <a:r>
                  <a:rPr lang="en-US" dirty="0"/>
                  <a:t> </a:t>
                </a:r>
                <a:r>
                  <a:rPr lang="sr-Latn-RS" dirty="0"/>
                  <a:t>s</a:t>
                </a:r>
                <a:r>
                  <a:rPr lang="en-US" dirty="0" err="1"/>
                  <a:t>istema</a:t>
                </a:r>
                <a:r>
                  <a:rPr lang="en-US" dirty="0"/>
                  <a:t> </a:t>
                </a:r>
                <a:r>
                  <a:rPr lang="en-US" dirty="0" err="1"/>
                  <a:t>odre</a:t>
                </a:r>
                <a:r>
                  <a:rPr lang="sr-Latn-RS" dirty="0"/>
                  <a:t>đuju karakter ponašanja sistema.</a:t>
                </a:r>
                <a:br>
                  <a:rPr lang="sr-Latn-RS" dirty="0"/>
                </a:br>
                <a:r>
                  <a:rPr lang="sr-Latn-RS" dirty="0"/>
                  <a:t>Dobijaju se rešavanjem jednačine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970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Funkcija prenosa </a:t>
            </a:r>
            <a:r>
              <a:rPr lang="sr-Latn-RS" dirty="0" err="1"/>
              <a:t>multivarijabilnog</a:t>
            </a:r>
            <a:r>
              <a:rPr lang="sr-Latn-RS" dirty="0"/>
              <a:t> sistema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/>
                  <a:t>Multivarijabilan sistem ima više ulaza i/ili izlaza</a:t>
                </a:r>
              </a:p>
              <a:p>
                <a:r>
                  <a:rPr lang="sr-Latn-RS" dirty="0"/>
                  <a:t>Posmatraju se svi parovi ulaz-izlaz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Nakon primene principa superpozicije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r-Latn-R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sr-Latn-RS" dirty="0"/>
              </a:p>
              <a:p>
                <a:endParaRPr lang="sr-Latn-RS" dirty="0"/>
              </a:p>
              <a:p>
                <a:endParaRPr lang="sr-Latn-RS" dirty="0"/>
              </a:p>
              <a:p>
                <a:r>
                  <a:rPr lang="sr-Latn-RS" dirty="0"/>
                  <a:t>Vektorska notacija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834027" y="5077986"/>
                <a:ext cx="85239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027" y="5077986"/>
                <a:ext cx="85239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131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sz="2800" dirty="0"/>
              <a:t>Primer funkcije prenosa sistema sa 2 ulaza i 2 izlaza</a:t>
            </a:r>
            <a:endParaRPr lang="en-US" sz="2800" dirty="0"/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201894"/>
            <a:ext cx="4180866" cy="2469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97934" y="4308663"/>
                <a:ext cx="3839897" cy="639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mr>
                      </m:m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934" y="4308663"/>
                <a:ext cx="3839897" cy="639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05714" y="5589241"/>
                <a:ext cx="2798458" cy="6472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714" y="5589241"/>
                <a:ext cx="2798458" cy="6472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2E050E-213B-44FD-AEC4-2DEEF05F5F54}"/>
                  </a:ext>
                </a:extLst>
              </p:cNvPr>
              <p:cNvSpPr txBox="1"/>
              <p:nvPr/>
            </p:nvSpPr>
            <p:spPr>
              <a:xfrm>
                <a:off x="7248128" y="2820214"/>
                <a:ext cx="433427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r-Latn-RS" b="1" dirty="0">
                    <a:latin typeface="+mn-lt"/>
                  </a:rPr>
                  <a:t>Primetiti:</a:t>
                </a:r>
              </a:p>
              <a:p>
                <a:r>
                  <a:rPr lang="sr-Latn-RS" dirty="0">
                    <a:latin typeface="+mn-lt"/>
                  </a:rPr>
                  <a:t>Ovo je linearan model.</a:t>
                </a:r>
              </a:p>
              <a:p>
                <a:r>
                  <a:rPr lang="sr-Latn-RS" dirty="0">
                    <a:latin typeface="+mn-lt"/>
                  </a:rPr>
                  <a:t>Svaki izlaz se može dobiti kao suma ponašanja modela kada nezavisno deluju pojedinačni ulazi. </a:t>
                </a:r>
              </a:p>
              <a:p>
                <a:r>
                  <a:rPr lang="sr-Latn-RS" dirty="0">
                    <a:latin typeface="+mn-lt"/>
                  </a:rPr>
                  <a:t>Znači, kada postavimo prvi ulaz, a drugi ulaz je nula dobijemo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sr-Latn-RS" dirty="0">
                    <a:latin typeface="+mn-lt"/>
                  </a:rPr>
                  <a:t>. Zatim, prvi ulaz je nula, a drugi postavimo i dobijemo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sr-Latn-RS" dirty="0">
                    <a:latin typeface="+mn-lt"/>
                  </a:rPr>
                  <a:t>. Tada znamo da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sr-Latn-RS" dirty="0">
                    <a:latin typeface="+mn-lt"/>
                  </a:rPr>
                  <a:t> kada deluju oba ulaza.</a:t>
                </a:r>
              </a:p>
              <a:p>
                <a:r>
                  <a:rPr lang="sr-Latn-RS" dirty="0">
                    <a:latin typeface="+mn-lt"/>
                  </a:rPr>
                  <a:t>To važi za svaki izlaz, kao za modele sa više ulaza.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2E050E-213B-44FD-AEC4-2DEEF05F5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28" y="2820214"/>
                <a:ext cx="4334272" cy="3416320"/>
              </a:xfrm>
              <a:prstGeom prst="rect">
                <a:avLst/>
              </a:prstGeom>
              <a:blipFill>
                <a:blip r:embed="rId6"/>
                <a:stretch>
                  <a:fillRect l="-1266" t="-1071" r="-1828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679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84288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Dobijanje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od </a:t>
            </a:r>
            <a:r>
              <a:rPr lang="en-US" dirty="0" err="1"/>
              <a:t>linearnog</a:t>
            </a:r>
            <a:r>
              <a:rPr lang="en-US" dirty="0"/>
              <a:t> </a:t>
            </a:r>
            <a:r>
              <a:rPr lang="en-US" dirty="0" err="1"/>
              <a:t>matematičkog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u </a:t>
            </a:r>
            <a:r>
              <a:rPr lang="en-US" dirty="0" err="1"/>
              <a:t>prostoru</a:t>
            </a:r>
            <a:r>
              <a:rPr lang="en-US" dirty="0"/>
              <a:t> </a:t>
            </a:r>
            <a:r>
              <a:rPr lang="en-US" dirty="0" err="1"/>
              <a:t>stanja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42720" y="2591645"/>
                <a:ext cx="3397469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sr-Latn-R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sr-Latn-R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sr-Latn-R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sr-Latn-R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sr-Latn-R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0" y="2591645"/>
                <a:ext cx="3397469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42720" y="3880945"/>
                <a:ext cx="381110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0" y="3880945"/>
                <a:ext cx="381110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43472" y="4735977"/>
                <a:ext cx="4052904" cy="67903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4735977"/>
                <a:ext cx="4052904" cy="6790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42720" y="1908293"/>
                <a:ext cx="2765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sr-Latn-RS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0" y="1908293"/>
                <a:ext cx="2765694" cy="369332"/>
              </a:xfrm>
              <a:prstGeom prst="rect">
                <a:avLst/>
              </a:prstGeom>
              <a:blipFill>
                <a:blip r:embed="rId8"/>
                <a:stretch>
                  <a:fillRect t="-4918" r="-661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42720" y="1465402"/>
                <a:ext cx="3869393" cy="390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sr-Latn-RS" b="1" dirty="0"/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0" y="1465402"/>
                <a:ext cx="3869393" cy="3909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475674" y="1440482"/>
            <a:ext cx="3948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+mn-lt"/>
              </a:rPr>
              <a:t>Primeni se Laplasova transformacija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(po</a:t>
            </a:r>
            <a:r>
              <a:rPr lang="sr-Latn-RS" dirty="0">
                <a:latin typeface="+mn-lt"/>
              </a:rPr>
              <a:t>četne vrednosti promenljivih stanja su nula!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12" name="Right Arrow 11"/>
          <p:cNvSpPr/>
          <p:nvPr/>
        </p:nvSpPr>
        <p:spPr>
          <a:xfrm rot="10800000">
            <a:off x="6379213" y="1748329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F2AC973-EE23-4FE7-A0AC-30A11FDB7628}"/>
                  </a:ext>
                </a:extLst>
              </p:cNvPr>
              <p:cNvSpPr/>
              <p:nvPr/>
            </p:nvSpPr>
            <p:spPr>
              <a:xfrm>
                <a:off x="1343472" y="5727607"/>
                <a:ext cx="5391732" cy="6710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adj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det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F2AC973-EE23-4FE7-A0AC-30A11FDB76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5727607"/>
                <a:ext cx="5391732" cy="6710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A1E66B-B945-4E90-9B25-BFCC180D7714}"/>
                  </a:ext>
                </a:extLst>
              </p:cNvPr>
              <p:cNvSpPr txBox="1"/>
              <p:nvPr/>
            </p:nvSpPr>
            <p:spPr>
              <a:xfrm>
                <a:off x="7475675" y="4850443"/>
                <a:ext cx="30598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r-Latn-RS" dirty="0">
                    <a:latin typeface="+mn-lt"/>
                  </a:rPr>
                  <a:t>P</a:t>
                </a:r>
                <a:r>
                  <a:rPr lang="en-US" dirty="0" err="1">
                    <a:latin typeface="+mn-lt"/>
                  </a:rPr>
                  <a:t>olovi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sistema</a:t>
                </a:r>
                <a:r>
                  <a:rPr lang="en-US" dirty="0">
                    <a:latin typeface="+mn-lt"/>
                  </a:rPr>
                  <a:t> se </a:t>
                </a:r>
                <a:r>
                  <a:rPr lang="en-US" dirty="0" err="1">
                    <a:latin typeface="+mn-lt"/>
                  </a:rPr>
                  <a:t>dobijaju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iz</a:t>
                </a:r>
                <a:endParaRPr lang="en-US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sr-Latn-RS" dirty="0">
                  <a:latin typeface="+mn-lt"/>
                </a:endParaRPr>
              </a:p>
              <a:p>
                <a:endParaRPr lang="sr-Latn-RS" dirty="0">
                  <a:latin typeface="+mn-lt"/>
                </a:endParaRPr>
              </a:p>
              <a:p>
                <a:r>
                  <a:rPr lang="sr-Latn-RS" dirty="0">
                    <a:latin typeface="+mn-lt"/>
                  </a:rPr>
                  <a:t>Rešenja su svojstvene vrednosti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sr-Latn-RS" dirty="0">
                    <a:latin typeface="+mn-lt"/>
                  </a:rPr>
                  <a:t>matrice </a:t>
                </a:r>
                <a14:m>
                  <m:oMath xmlns:m="http://schemas.openxmlformats.org/officeDocument/2006/math">
                    <m:r>
                      <a:rPr lang="sr-Latn-R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A1E66B-B945-4E90-9B25-BFCC180D7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675" y="4850443"/>
                <a:ext cx="3059832" cy="1754326"/>
              </a:xfrm>
              <a:prstGeom prst="rect">
                <a:avLst/>
              </a:prstGeom>
              <a:blipFill>
                <a:blip r:embed="rId11"/>
                <a:stretch>
                  <a:fillRect l="-1594" t="-209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58D543-7DD3-4C6A-BECA-26C5C1DE429B}"/>
                  </a:ext>
                </a:extLst>
              </p:cNvPr>
              <p:cNvSpPr txBox="1"/>
              <p:nvPr/>
            </p:nvSpPr>
            <p:spPr>
              <a:xfrm>
                <a:off x="7475674" y="2709117"/>
                <a:ext cx="358854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r-Latn-RS" dirty="0">
                    <a:latin typeface="+mn-lt"/>
                  </a:rPr>
                  <a:t>Pažnja: </a:t>
                </a:r>
                <a:br>
                  <a:rPr lang="sr-Latn-RS" dirty="0">
                    <a:latin typeface="+mn-lt"/>
                  </a:rPr>
                </a:br>
                <a14:m>
                  <m:oMath xmlns:m="http://schemas.openxmlformats.org/officeDocument/2006/math">
                    <m:r>
                      <a:rPr lang="sr-Latn-R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sr-Latn-RS" dirty="0">
                    <a:latin typeface="+mn-lt"/>
                  </a:rPr>
                  <a:t> je jedinična matrica.</a:t>
                </a:r>
              </a:p>
              <a:p>
                <a:r>
                  <a:rPr lang="sr-Latn-RS" dirty="0">
                    <a:latin typeface="+mn-lt"/>
                  </a:rPr>
                  <a:t>Množenje matrica nije komutativno!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58D543-7DD3-4C6A-BECA-26C5C1DE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674" y="2709117"/>
                <a:ext cx="3588546" cy="923330"/>
              </a:xfrm>
              <a:prstGeom prst="rect">
                <a:avLst/>
              </a:prstGeom>
              <a:blipFill>
                <a:blip r:embed="rId12"/>
                <a:stretch>
                  <a:fillRect l="-1358" t="-3289" r="-101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409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63752" y="928670"/>
                <a:ext cx="7718648" cy="51974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Napisati </a:t>
                </a:r>
                <a:r>
                  <a:rPr lang="en-US" dirty="0" err="1"/>
                  <a:t>funkcije</a:t>
                </a:r>
                <a:r>
                  <a:rPr lang="en-US" dirty="0"/>
                  <a:t> </a:t>
                </a:r>
                <a:r>
                  <a:rPr lang="en-US" dirty="0" err="1"/>
                  <a:t>prenosa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osnovu</a:t>
                </a:r>
                <a:r>
                  <a:rPr lang="en-US" dirty="0"/>
                  <a:t> </a:t>
                </a:r>
                <a:r>
                  <a:rPr lang="en-US" dirty="0" err="1"/>
                  <a:t>linearnog</a:t>
                </a:r>
                <a:r>
                  <a:rPr lang="en-US" dirty="0"/>
                  <a:t> </a:t>
                </a:r>
                <a:r>
                  <a:rPr lang="en-US" dirty="0" err="1"/>
                  <a:t>matemati</a:t>
                </a:r>
                <a:r>
                  <a:rPr lang="sr-Latn-RS" dirty="0"/>
                  <a:t>č</a:t>
                </a:r>
                <a:r>
                  <a:rPr lang="en-US" dirty="0" err="1"/>
                  <a:t>kog</a:t>
                </a:r>
                <a:r>
                  <a:rPr lang="en-US" dirty="0"/>
                  <a:t> </a:t>
                </a:r>
                <a:r>
                  <a:rPr lang="en-US" dirty="0" err="1"/>
                  <a:t>modela</a:t>
                </a:r>
                <a:r>
                  <a:rPr lang="en-US" dirty="0"/>
                  <a:t>: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sr-Latn-R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u="sng" dirty="0" err="1">
                    <a:solidFill>
                      <a:srgbClr val="000000"/>
                    </a:solidFill>
                  </a:rPr>
                  <a:t>Izrada</a:t>
                </a:r>
                <a:endParaRPr lang="en-US" u="sng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0000"/>
                    </a:solidFill>
                  </a:rPr>
                  <a:t>Prepisujemo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</a:rPr>
                  <a:t>matrice</a:t>
                </a:r>
                <a:r>
                  <a:rPr lang="en-US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Funkcija</a:t>
                </a:r>
                <a:r>
                  <a:rPr lang="en-US" dirty="0"/>
                  <a:t> </a:t>
                </a:r>
                <a:r>
                  <a:rPr lang="en-US" dirty="0" err="1"/>
                  <a:t>prenosa</a:t>
                </a:r>
                <a:r>
                  <a:rPr lang="en-US" dirty="0"/>
                  <a:t> je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	</a:t>
                </a:r>
                <a:r>
                  <a:rPr lang="sr-Latn-RS" dirty="0"/>
                  <a:t>	</a:t>
                </a:r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3752" y="928670"/>
                <a:ext cx="7718648" cy="5197493"/>
              </a:xfrm>
              <a:blipFill>
                <a:blip r:embed="rId3"/>
                <a:stretch>
                  <a:fillRect l="-869" t="-586" r="-237" b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965F4A5-DDBA-42AC-9CEB-04EF048C03A1}"/>
              </a:ext>
            </a:extLst>
          </p:cNvPr>
          <p:cNvSpPr txBox="1"/>
          <p:nvPr/>
        </p:nvSpPr>
        <p:spPr>
          <a:xfrm>
            <a:off x="588021" y="2864102"/>
            <a:ext cx="3015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>
                <a:latin typeface="+mn-lt"/>
              </a:rPr>
              <a:t>Ulazi su naponi generatora, </a:t>
            </a:r>
          </a:p>
          <a:p>
            <a:r>
              <a:rPr lang="sr-Latn-RS" dirty="0">
                <a:latin typeface="+mn-lt"/>
              </a:rPr>
              <a:t>a izlaz je struja kroz otpornik. 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87DA3A-9029-4C67-951A-183A065C706E}"/>
              </a:ext>
            </a:extLst>
          </p:cNvPr>
          <p:cNvGrpSpPr/>
          <p:nvPr/>
        </p:nvGrpSpPr>
        <p:grpSpPr>
          <a:xfrm>
            <a:off x="407368" y="959748"/>
            <a:ext cx="3307754" cy="1730400"/>
            <a:chOff x="407368" y="959748"/>
            <a:chExt cx="3307754" cy="1730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EEF0EB1-6C68-4421-ABEC-16997841A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368" y="959748"/>
              <a:ext cx="3307754" cy="17304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F45616F-EDD4-4476-BF0A-ACEB430C29F5}"/>
                </a:ext>
              </a:extLst>
            </p:cNvPr>
            <p:cNvCxnSpPr/>
            <p:nvPr/>
          </p:nvCxnSpPr>
          <p:spPr>
            <a:xfrm>
              <a:off x="1991544" y="2362609"/>
              <a:ext cx="0" cy="216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79D0AC-C0D8-4430-92A5-807C2F68ABD1}"/>
                    </a:ext>
                  </a:extLst>
                </p:cNvPr>
                <p:cNvSpPr txBox="1"/>
                <p:nvPr/>
              </p:nvSpPr>
              <p:spPr>
                <a:xfrm>
                  <a:off x="1721326" y="2272226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sr-Latn-R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A79D0AC-C0D8-4430-92A5-807C2F68A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326" y="2272226"/>
                  <a:ext cx="31861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0566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A6CA27-9230-4CAA-97FF-7D3D1115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8640"/>
                <a:ext cx="10972800" cy="613459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RS" sz="1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endParaRPr lang="en-US" sz="1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r-Latn-RS" sz="1800" i="1" dirty="0">
                    <a:latin typeface="Cambria Math" panose="02040503050406030204" pitchFamily="18" charset="0"/>
                  </a:rPr>
                  <a:t> </a:t>
                </a: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rgbClr val="000000"/>
                        </a:solidFill>
                      </a:rPr>
                      <m:t> </m:t>
                    </m:r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sr-Latn-RS" sz="1800" dirty="0"/>
                  <a:t>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,	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𝑅𝐿𝐶</m:t>
                                  </m:r>
                                </m:den>
                              </m:f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𝑅𝐿𝐶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𝑅𝐿𝐶</m:t>
                                  </m:r>
                                </m:den>
                              </m:f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</m:t>
                                      </m:r>
                                    </m:den>
                                  </m:f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den>
                                  </m:f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𝐿𝐶</m:t>
                                      </m:r>
                                    </m:den>
                                  </m:f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</m:t>
                                      </m:r>
                                    </m:den>
                                  </m:f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den>
                                  </m:f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den>
                                  </m:f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𝐿𝐶</m:t>
                                      </m:r>
                                    </m:den>
                                  </m:f>
                                </m:den>
                              </m:f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sr-Latn-RS" sz="1800" dirty="0"/>
                  <a:t>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𝐿𝐶𝑠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𝑅𝐿𝐶𝑠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</a:t>
                </a:r>
                <a:endParaRPr lang="sr-Latn-RS" sz="1800" dirty="0"/>
              </a:p>
              <a:p>
                <a:pPr marL="0" indent="0">
                  <a:buNone/>
                </a:pPr>
                <a:endParaRPr lang="sr-Latn-R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sr-Latn-RS" sz="18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sr-Latn-R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sr-Latn-R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sr-Latn-R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sr-Latn-RS" sz="1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sr-Latn-R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sr-Latn-RS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r-Latn-R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r-Latn-R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sr-Latn-R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sr-Latn-RS" sz="1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sr-Latn-R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sr-Latn-R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r-Latn-R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r-Latn-R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𝑅𝐿𝐶𝑠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𝐿𝑠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sSub>
                      <m:sSubPr>
                        <m:ctrlPr>
                          <a:rPr lang="sr-Latn-R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sr-Latn-R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sr-Latn-R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sr-Latn-R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sr-Latn-RS" sz="1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𝐿𝐶𝑠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𝑅𝐿𝐶𝑠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𝐿𝑠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sSub>
                      <m:sSubPr>
                        <m:ctrlPr>
                          <a:rPr lang="sr-Latn-R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sr-Latn-R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sr-Latn-R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sr-Latn-RS" sz="1800" dirty="0"/>
                  <a:t> </a:t>
                </a:r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A6CA27-9230-4CAA-97FF-7D3D1115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8640"/>
                <a:ext cx="10972800" cy="6134594"/>
              </a:xfrm>
              <a:blipFill>
                <a:blip r:embed="rId2"/>
                <a:stretch>
                  <a:fillRect b="-3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7002E3-167D-4E0F-BCBB-F397A9583F36}"/>
                  </a:ext>
                </a:extLst>
              </p:cNvPr>
              <p:cNvSpPr txBox="1"/>
              <p:nvPr/>
            </p:nvSpPr>
            <p:spPr>
              <a:xfrm>
                <a:off x="8635952" y="5399904"/>
                <a:ext cx="294644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r-Latn-RS" dirty="0">
                    <a:latin typeface="+mn-lt"/>
                  </a:rPr>
                  <a:t>Šta smo dobili?</a:t>
                </a:r>
              </a:p>
              <a:p>
                <a:r>
                  <a:rPr lang="sr-Latn-RS" dirty="0">
                    <a:latin typeface="+mn-lt"/>
                  </a:rPr>
                  <a:t>Zašto je dimenzija </a:t>
                </a:r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sr-Latn-R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r-Latn-R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sr-Latn-R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r-Latn-RS" dirty="0">
                    <a:latin typeface="+mn-lt"/>
                  </a:rPr>
                  <a:t> 1x2?</a:t>
                </a:r>
              </a:p>
              <a:p>
                <a:r>
                  <a:rPr lang="sr-Latn-RS" dirty="0">
                    <a:latin typeface="+mn-lt"/>
                  </a:rPr>
                  <a:t>Šta su ovde ulazi, izlazi?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7002E3-167D-4E0F-BCBB-F397A9583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952" y="5399904"/>
                <a:ext cx="2946448" cy="923330"/>
              </a:xfrm>
              <a:prstGeom prst="rect">
                <a:avLst/>
              </a:prstGeom>
              <a:blipFill>
                <a:blip r:embed="rId3"/>
                <a:stretch>
                  <a:fillRect l="-1863" t="-3974" r="-1035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911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/>
          <p:cNvSpPr txBox="1">
            <a:spLocks noChangeArrowheads="1"/>
          </p:cNvSpPr>
          <p:nvPr/>
        </p:nvSpPr>
        <p:spPr bwMode="auto">
          <a:xfrm>
            <a:off x="1981200" y="762001"/>
            <a:ext cx="815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sr-Latn-CS"/>
              <a:t>Prednosti koncepta prostora stanja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Koncept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klasični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(</a:t>
            </a:r>
            <a:r>
              <a:rPr lang="en-US" dirty="0" err="1"/>
              <a:t>kompleksan</a:t>
            </a:r>
            <a:r>
              <a:rPr lang="en-US" dirty="0"/>
              <a:t> </a:t>
            </a:r>
            <a:r>
              <a:rPr lang="en-US" dirty="0" err="1"/>
              <a:t>domen</a:t>
            </a:r>
            <a:r>
              <a:rPr lang="en-US" dirty="0"/>
              <a:t>),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posmatra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aspekta</a:t>
            </a:r>
            <a:r>
              <a:rPr lang="en-US" dirty="0"/>
              <a:t> </a:t>
            </a:r>
            <a:r>
              <a:rPr lang="en-US" dirty="0" err="1"/>
              <a:t>korišćenja</a:t>
            </a:r>
            <a:r>
              <a:rPr lang="en-US" dirty="0"/>
              <a:t> </a:t>
            </a:r>
            <a:r>
              <a:rPr lang="en-US" dirty="0" err="1"/>
              <a:t>digitalnih</a:t>
            </a:r>
            <a:r>
              <a:rPr lang="en-US" dirty="0"/>
              <a:t> </a:t>
            </a:r>
            <a:r>
              <a:rPr lang="en-US" dirty="0" err="1"/>
              <a:t>računara</a:t>
            </a:r>
            <a:r>
              <a:rPr lang="sr-Latn-CS" dirty="0"/>
              <a:t>:</a:t>
            </a:r>
            <a:endParaRPr lang="en-US" dirty="0"/>
          </a:p>
          <a:p>
            <a:pPr lvl="1"/>
            <a:r>
              <a:rPr lang="en-US" dirty="0" err="1"/>
              <a:t>Određivanje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diferencijalnih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reda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brže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digitalnom</a:t>
            </a:r>
            <a:r>
              <a:rPr lang="en-US" dirty="0"/>
              <a:t> </a:t>
            </a:r>
            <a:r>
              <a:rPr lang="en-US" dirty="0" err="1"/>
              <a:t>računaru</a:t>
            </a:r>
            <a:r>
              <a:rPr lang="en-US" dirty="0"/>
              <a:t>,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rešavanje</a:t>
            </a:r>
            <a:r>
              <a:rPr lang="en-US" dirty="0"/>
              <a:t> </a:t>
            </a:r>
            <a:r>
              <a:rPr lang="en-US" dirty="0" err="1"/>
              <a:t>odgovarajuće</a:t>
            </a:r>
            <a:r>
              <a:rPr lang="en-US" dirty="0"/>
              <a:t> </a:t>
            </a:r>
            <a:r>
              <a:rPr lang="en-US" dirty="0" err="1"/>
              <a:t>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 </a:t>
            </a:r>
            <a:r>
              <a:rPr lang="en-US" dirty="0" err="1"/>
              <a:t>višeg</a:t>
            </a:r>
            <a:r>
              <a:rPr lang="en-US" dirty="0"/>
              <a:t> </a:t>
            </a:r>
            <a:r>
              <a:rPr lang="en-US" dirty="0" err="1"/>
              <a:t>reda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Uproš</a:t>
            </a:r>
            <a:r>
              <a:rPr lang="sr-Latn-CS" dirty="0"/>
              <a:t>t</a:t>
            </a:r>
            <a:r>
              <a:rPr lang="en-US" dirty="0" err="1"/>
              <a:t>eno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matematičko</a:t>
            </a:r>
            <a:r>
              <a:rPr lang="en-US" dirty="0"/>
              <a:t> </a:t>
            </a:r>
            <a:r>
              <a:rPr lang="en-US" dirty="0" err="1"/>
              <a:t>opisivanje</a:t>
            </a:r>
            <a:r>
              <a:rPr lang="en-US" dirty="0"/>
              <a:t> </a:t>
            </a:r>
            <a:r>
              <a:rPr lang="sr-Latn-CS" dirty="0"/>
              <a:t>upotrebom </a:t>
            </a:r>
            <a:r>
              <a:rPr lang="en-US" dirty="0" err="1"/>
              <a:t>vektorske</a:t>
            </a:r>
            <a:r>
              <a:rPr lang="en-US" dirty="0"/>
              <a:t> </a:t>
            </a:r>
            <a:r>
              <a:rPr lang="en-US" dirty="0" err="1"/>
              <a:t>notacije</a:t>
            </a:r>
            <a:endParaRPr lang="en-US" dirty="0"/>
          </a:p>
          <a:p>
            <a:pPr lvl="1"/>
            <a:r>
              <a:rPr lang="en-US" dirty="0" err="1"/>
              <a:t>Uključivanje</a:t>
            </a:r>
            <a:r>
              <a:rPr lang="en-US" dirty="0"/>
              <a:t> </a:t>
            </a:r>
            <a:r>
              <a:rPr lang="en-US" dirty="0" err="1"/>
              <a:t>početnih</a:t>
            </a:r>
            <a:r>
              <a:rPr lang="en-US" dirty="0"/>
              <a:t> </a:t>
            </a:r>
            <a:r>
              <a:rPr lang="en-US" dirty="0" err="1"/>
              <a:t>uslova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jednostavno</a:t>
            </a:r>
            <a:r>
              <a:rPr lang="en-US" dirty="0"/>
              <a:t>.</a:t>
            </a:r>
          </a:p>
          <a:p>
            <a:pPr lvl="1"/>
            <a:r>
              <a:rPr lang="sr-Latn-CS" dirty="0"/>
              <a:t>Model </a:t>
            </a:r>
            <a:r>
              <a:rPr lang="en-US" dirty="0"/>
              <a:t>se </a:t>
            </a:r>
            <a:r>
              <a:rPr lang="sr-Latn-CS" dirty="0"/>
              <a:t>može primeniti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promenljive</a:t>
            </a:r>
            <a:r>
              <a:rPr lang="en-US" dirty="0"/>
              <a:t>, </a:t>
            </a:r>
            <a:r>
              <a:rPr lang="en-US" dirty="0" err="1"/>
              <a:t>nelinearne</a:t>
            </a:r>
            <a:r>
              <a:rPr lang="en-US" dirty="0"/>
              <a:t>, </a:t>
            </a:r>
            <a:r>
              <a:rPr lang="en-US" dirty="0" err="1"/>
              <a:t>stohastičke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diskretne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.</a:t>
            </a:r>
            <a:r>
              <a:rPr lang="sr-Latn-C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0980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FF2B-463D-4A6E-8657-2AB7A8FF4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Matemati</a:t>
            </a:r>
            <a:r>
              <a:rPr lang="sr-Latn-RS" dirty="0"/>
              <a:t>čki model u prostoru stanja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0E550-49C0-46B7-A075-425A4593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Izračunavanje kretanja promenljiv</a:t>
            </a:r>
            <a:r>
              <a:rPr lang="en-US" dirty="0" err="1"/>
              <a:t>i</a:t>
            </a:r>
            <a:r>
              <a:rPr lang="sr-Latn-RS" dirty="0"/>
              <a:t>h stanja i izlaza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24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sr-Latn-RS" dirty="0"/>
              <a:t>Izračunavanje kretanja modela</a:t>
            </a:r>
            <a:endParaRPr lang="sr-Latn-C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7" name="Content Placeholder 1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CS" dirty="0"/>
                  <a:t>U vremenskom domenu</a:t>
                </a:r>
                <a:endParaRPr lang="en-US" dirty="0"/>
              </a:p>
              <a:p>
                <a:pPr marL="0" indent="0">
                  <a:buNone/>
                </a:pPr>
                <a:r>
                  <a:rPr lang="sr-Latn-RS" b="1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, 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(0)=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sr-Latn-R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i="1" dirty="0"/>
              </a:p>
              <a:p>
                <a:endParaRPr lang="sr-Latn-CS" dirty="0"/>
              </a:p>
              <a:p>
                <a:r>
                  <a:rPr lang="sr-Latn-CS" dirty="0"/>
                  <a:t>Nakon primene Laplace-ove transformacije</a:t>
                </a:r>
                <a:r>
                  <a:rPr lang="en-US" dirty="0"/>
                  <a:t> </a:t>
                </a:r>
                <a:r>
                  <a:rPr lang="sr-Latn-RS" dirty="0"/>
                  <a:t>dobija se:</a:t>
                </a:r>
                <a:br>
                  <a:rPr lang="en-US" dirty="0"/>
                </a:br>
                <a:r>
                  <a:rPr lang="en-US" dirty="0"/>
                  <a:t>Po</a:t>
                </a:r>
                <a:r>
                  <a:rPr lang="sr-Latn-CS" dirty="0"/>
                  <a:t>četni uslovi ne moraju biti nula!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sr-Latn-R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sr-Latn-R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sr-Latn-R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  <a:p>
                <a:pPr marL="457200" lvl="1" indent="0">
                  <a:buNone/>
                </a:pPr>
                <a:r>
                  <a:rPr lang="en-US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sr-Latn-R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(0)+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sr-Latn-CS" dirty="0"/>
              </a:p>
              <a:p>
                <a:r>
                  <a:rPr lang="sr-Latn-CS" dirty="0"/>
                  <a:t>Primena inverzne Laplasove transformacije na prethodni izraz daje kretanje izlaza modela ...</a:t>
                </a:r>
                <a:endParaRPr lang="en-US" dirty="0"/>
              </a:p>
            </p:txBody>
          </p:sp>
        </mc:Choice>
        <mc:Fallback xmlns="">
          <p:sp>
            <p:nvSpPr>
              <p:cNvPr id="22537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8" name="Rectangle 7"/>
          <p:cNvSpPr>
            <a:spLocks noChangeArrowheads="1"/>
          </p:cNvSpPr>
          <p:nvPr/>
        </p:nvSpPr>
        <p:spPr bwMode="auto">
          <a:xfrm>
            <a:off x="152400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39" name="Rectangle 9"/>
          <p:cNvSpPr>
            <a:spLocks noChangeArrowheads="1"/>
          </p:cNvSpPr>
          <p:nvPr/>
        </p:nvSpPr>
        <p:spPr bwMode="auto">
          <a:xfrm>
            <a:off x="152400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40" name="Rectangle 11"/>
          <p:cNvSpPr>
            <a:spLocks noChangeArrowheads="1"/>
          </p:cNvSpPr>
          <p:nvPr/>
        </p:nvSpPr>
        <p:spPr bwMode="auto">
          <a:xfrm>
            <a:off x="152400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1524000" y="31062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11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Title 1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sr-Latn-CS" dirty="0"/>
              <a:t>Izračunavanje kretanja modela (2)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8" name="Content Placeholder 19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CS" dirty="0"/>
                  <a:t>Računa se preko Fundamentalne matrice sistema</a:t>
                </a:r>
                <a:r>
                  <a:rPr lang="en-US" dirty="0"/>
                  <a:t>:	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𝜱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sr-Latn-CS" dirty="0"/>
              </a:p>
              <a:p>
                <a:r>
                  <a:rPr lang="sr-Latn-CS" dirty="0"/>
                  <a:t>Kretanje promenljivih stanja </a:t>
                </a:r>
                <a14:m>
                  <m:oMath xmlns:m="http://schemas.openxmlformats.org/officeDocument/2006/math">
                    <m:r>
                      <a:rPr lang="sr-Latn-CS" b="1" i="1" dirty="0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sr-Latn-C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C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(0)+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sr-Latn-C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sr-Latn-CS" dirty="0"/>
                  <a:t>Kretanje izlaza </a:t>
                </a:r>
                <a14:m>
                  <m:oMath xmlns:m="http://schemas.openxmlformats.org/officeDocument/2006/math">
                    <m:r>
                      <a:rPr lang="sr-Latn-C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sr-Latn-C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sr-Latn-C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sr-Latn-C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(0)+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558" name="Content Placeholder 1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9" name="Rectangle 10"/>
          <p:cNvSpPr>
            <a:spLocks noChangeArrowheads="1"/>
          </p:cNvSpPr>
          <p:nvPr/>
        </p:nvSpPr>
        <p:spPr bwMode="auto">
          <a:xfrm>
            <a:off x="1524000" y="24728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60" name="Rectangle 17"/>
          <p:cNvSpPr>
            <a:spLocks noChangeArrowheads="1"/>
          </p:cNvSpPr>
          <p:nvPr/>
        </p:nvSpPr>
        <p:spPr bwMode="auto">
          <a:xfrm>
            <a:off x="8820149" y="3716338"/>
            <a:ext cx="27400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kretanje</a:t>
            </a:r>
            <a:r>
              <a:rPr lang="sr-Latn-CS" sz="1600" dirty="0">
                <a:solidFill>
                  <a:srgbClr val="0070C0"/>
                </a:solidFill>
              </a:rPr>
              <a:t> stanja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 sistema pod </a:t>
            </a:r>
          </a:p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dejstvom po</a:t>
            </a:r>
            <a:r>
              <a:rPr lang="sr-Latn-CS" sz="1600" dirty="0">
                <a:solidFill>
                  <a:srgbClr val="0070C0"/>
                </a:solidFill>
              </a:rPr>
              <a:t>č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etnih uslova</a:t>
            </a:r>
            <a:endParaRPr lang="sr-Latn-CS" sz="1600" dirty="0">
              <a:solidFill>
                <a:srgbClr val="0070C0"/>
              </a:solidFill>
            </a:endParaRPr>
          </a:p>
        </p:txBody>
      </p:sp>
      <p:sp>
        <p:nvSpPr>
          <p:cNvPr id="23561" name="Rectangle 18"/>
          <p:cNvSpPr>
            <a:spLocks noChangeArrowheads="1"/>
          </p:cNvSpPr>
          <p:nvPr/>
        </p:nvSpPr>
        <p:spPr bwMode="auto">
          <a:xfrm>
            <a:off x="8820149" y="3068638"/>
            <a:ext cx="27400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kretanje</a:t>
            </a:r>
            <a:r>
              <a:rPr lang="sr-Latn-CS" sz="1600" dirty="0">
                <a:solidFill>
                  <a:srgbClr val="0070C0"/>
                </a:solidFill>
              </a:rPr>
              <a:t> stanja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 sistema pod </a:t>
            </a:r>
          </a:p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dejstvom spoljne pobude</a:t>
            </a:r>
            <a:endParaRPr lang="sr-Latn-CS" sz="1600" dirty="0">
              <a:solidFill>
                <a:srgbClr val="0070C0"/>
              </a:solidFill>
            </a:endParaRPr>
          </a:p>
        </p:txBody>
      </p:sp>
      <p:sp>
        <p:nvSpPr>
          <p:cNvPr id="22" name="Right Brace 21"/>
          <p:cNvSpPr/>
          <p:nvPr/>
        </p:nvSpPr>
        <p:spPr>
          <a:xfrm rot="5400000">
            <a:off x="5221288" y="2336800"/>
            <a:ext cx="152400" cy="1295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ight Brace 22"/>
          <p:cNvSpPr/>
          <p:nvPr/>
        </p:nvSpPr>
        <p:spPr>
          <a:xfrm rot="5400000">
            <a:off x="7162800" y="1879600"/>
            <a:ext cx="152400" cy="2209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5" name="Straight Arrow Connector 24"/>
          <p:cNvCxnSpPr>
            <a:cxnSpLocks/>
            <a:stCxn id="23561" idx="1"/>
          </p:cNvCxnSpPr>
          <p:nvPr/>
        </p:nvCxnSpPr>
        <p:spPr>
          <a:xfrm flipH="1" flipV="1">
            <a:off x="7464153" y="3090862"/>
            <a:ext cx="1355996" cy="269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560" idx="1"/>
          </p:cNvCxnSpPr>
          <p:nvPr/>
        </p:nvCxnSpPr>
        <p:spPr>
          <a:xfrm flipH="1" flipV="1">
            <a:off x="5580063" y="3141665"/>
            <a:ext cx="3240086" cy="8667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5" name="Object 6"/>
          <p:cNvSpPr txBox="1"/>
          <p:nvPr/>
        </p:nvSpPr>
        <p:spPr bwMode="auto">
          <a:xfrm>
            <a:off x="8194675" y="908050"/>
            <a:ext cx="2022475" cy="377825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3566" name="Rectangle 10"/>
          <p:cNvSpPr>
            <a:spLocks noChangeArrowheads="1"/>
          </p:cNvSpPr>
          <p:nvPr/>
        </p:nvSpPr>
        <p:spPr bwMode="auto">
          <a:xfrm>
            <a:off x="1524000" y="61970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67" name="Rectangle 17"/>
          <p:cNvSpPr>
            <a:spLocks noChangeArrowheads="1"/>
          </p:cNvSpPr>
          <p:nvPr/>
        </p:nvSpPr>
        <p:spPr bwMode="auto">
          <a:xfrm>
            <a:off x="8820149" y="6021388"/>
            <a:ext cx="27162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kretanje</a:t>
            </a:r>
            <a:r>
              <a:rPr lang="sr-Latn-CS" sz="1600" dirty="0">
                <a:solidFill>
                  <a:srgbClr val="0070C0"/>
                </a:solidFill>
              </a:rPr>
              <a:t> izlaza 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sistema pod </a:t>
            </a:r>
          </a:p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dejstvom po</a:t>
            </a:r>
            <a:r>
              <a:rPr lang="sr-Latn-CS" sz="1600" dirty="0">
                <a:solidFill>
                  <a:srgbClr val="0070C0"/>
                </a:solidFill>
              </a:rPr>
              <a:t>č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etnih uslova</a:t>
            </a:r>
            <a:endParaRPr lang="sr-Latn-CS" sz="1600" dirty="0">
              <a:solidFill>
                <a:srgbClr val="0070C0"/>
              </a:solidFill>
            </a:endParaRPr>
          </a:p>
        </p:txBody>
      </p:sp>
      <p:sp>
        <p:nvSpPr>
          <p:cNvPr id="23568" name="Rectangle 18"/>
          <p:cNvSpPr>
            <a:spLocks noChangeArrowheads="1"/>
          </p:cNvSpPr>
          <p:nvPr/>
        </p:nvSpPr>
        <p:spPr bwMode="auto">
          <a:xfrm>
            <a:off x="8820149" y="5373688"/>
            <a:ext cx="27162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kretanje</a:t>
            </a:r>
            <a:r>
              <a:rPr lang="sr-Latn-CS" sz="1600" dirty="0">
                <a:solidFill>
                  <a:srgbClr val="0070C0"/>
                </a:solidFill>
              </a:rPr>
              <a:t> izlaza</a:t>
            </a:r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 sistema pod </a:t>
            </a:r>
          </a:p>
          <a:p>
            <a:r>
              <a:rPr lang="sr-Latn-CS" sz="1600" dirty="0">
                <a:solidFill>
                  <a:srgbClr val="0070C0"/>
                </a:solidFill>
                <a:cs typeface="Times New Roman" pitchFamily="18" charset="0"/>
              </a:rPr>
              <a:t>dejstvom spoljne pobude</a:t>
            </a:r>
            <a:endParaRPr lang="sr-Latn-CS" sz="1600" dirty="0">
              <a:solidFill>
                <a:srgbClr val="0070C0"/>
              </a:solidFill>
            </a:endParaRPr>
          </a:p>
        </p:txBody>
      </p:sp>
      <p:sp>
        <p:nvSpPr>
          <p:cNvPr id="28" name="Right Brace 27"/>
          <p:cNvSpPr/>
          <p:nvPr/>
        </p:nvSpPr>
        <p:spPr>
          <a:xfrm rot="5400000">
            <a:off x="4481168" y="4596616"/>
            <a:ext cx="152400" cy="1524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ight Brace 28"/>
          <p:cNvSpPr/>
          <p:nvPr/>
        </p:nvSpPr>
        <p:spPr>
          <a:xfrm rot="5400000">
            <a:off x="7387952" y="3567916"/>
            <a:ext cx="152400" cy="3581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0" name="Straight Arrow Connector 29"/>
          <p:cNvCxnSpPr>
            <a:cxnSpLocks/>
            <a:stCxn id="23568" idx="1"/>
          </p:cNvCxnSpPr>
          <p:nvPr/>
        </p:nvCxnSpPr>
        <p:spPr>
          <a:xfrm flipH="1" flipV="1">
            <a:off x="7752184" y="5526088"/>
            <a:ext cx="1067965" cy="13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  <a:stCxn id="23567" idx="1"/>
          </p:cNvCxnSpPr>
          <p:nvPr/>
        </p:nvCxnSpPr>
        <p:spPr>
          <a:xfrm flipH="1" flipV="1">
            <a:off x="4914167" y="5526088"/>
            <a:ext cx="3905982" cy="78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814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60D1-0DA0-4827-A3A8-1A662620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50B6E-7DC0-44AC-A90B-79E7B3F289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Dat je </a:t>
                </a:r>
                <a:r>
                  <a:rPr lang="en-US" dirty="0" err="1"/>
                  <a:t>linearan</a:t>
                </a:r>
                <a:r>
                  <a:rPr lang="en-US" dirty="0"/>
                  <a:t> </a:t>
                </a:r>
                <a:r>
                  <a:rPr lang="en-US" dirty="0" err="1"/>
                  <a:t>vremenski</a:t>
                </a:r>
                <a:r>
                  <a:rPr lang="en-US" dirty="0"/>
                  <a:t> </a:t>
                </a:r>
                <a:r>
                  <a:rPr lang="en-US" dirty="0" err="1"/>
                  <a:t>kontinualan</a:t>
                </a:r>
                <a:r>
                  <a:rPr lang="en-US" dirty="0"/>
                  <a:t> </a:t>
                </a:r>
                <a:r>
                  <a:rPr lang="en-US" dirty="0" err="1"/>
                  <a:t>matematički</a:t>
                </a:r>
                <a:r>
                  <a:rPr lang="en-US" dirty="0"/>
                  <a:t> model u </a:t>
                </a:r>
                <a:r>
                  <a:rPr lang="en-US" dirty="0" err="1"/>
                  <a:t>prostoru</a:t>
                </a:r>
                <a:r>
                  <a:rPr lang="en-US" dirty="0"/>
                  <a:t> </a:t>
                </a:r>
                <a:r>
                  <a:rPr lang="en-US" dirty="0" err="1"/>
                  <a:t>stanja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r-Latn-R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sr-Latn-R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≥3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Odrediti</a:t>
                </a:r>
                <a:r>
                  <a:rPr lang="en-US" dirty="0"/>
                  <a:t> </a:t>
                </a:r>
                <a:r>
                  <a:rPr lang="en-US" dirty="0" err="1"/>
                  <a:t>izlaz</a:t>
                </a:r>
                <a:r>
                  <a:rPr lang="en-US" dirty="0"/>
                  <a:t> </a:t>
                </a:r>
                <a:r>
                  <a:rPr lang="en-US" dirty="0" err="1"/>
                  <a:t>modela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Matrice</a:t>
                </a:r>
                <a:r>
                  <a:rPr lang="en-US" dirty="0"/>
                  <a:t> </a:t>
                </a:r>
                <a:r>
                  <a:rPr lang="en-US" dirty="0" err="1"/>
                  <a:t>modela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sr-Latn-RS" b="1" dirty="0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50B6E-7DC0-44AC-A90B-79E7B3F289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931096-9743-4FED-A03B-1A1A6B3FC80D}"/>
              </a:ext>
            </a:extLst>
          </p:cNvPr>
          <p:cNvCxnSpPr/>
          <p:nvPr/>
        </p:nvCxnSpPr>
        <p:spPr>
          <a:xfrm flipV="1">
            <a:off x="6384032" y="234888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5637A0-C052-4885-8860-F88CF0961C58}"/>
              </a:ext>
            </a:extLst>
          </p:cNvPr>
          <p:cNvCxnSpPr/>
          <p:nvPr/>
        </p:nvCxnSpPr>
        <p:spPr>
          <a:xfrm>
            <a:off x="6312024" y="3789040"/>
            <a:ext cx="4248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A160ED-30C1-4362-B4EA-C70562F5F648}"/>
              </a:ext>
            </a:extLst>
          </p:cNvPr>
          <p:cNvCxnSpPr>
            <a:cxnSpLocks/>
          </p:cNvCxnSpPr>
          <p:nvPr/>
        </p:nvCxnSpPr>
        <p:spPr>
          <a:xfrm flipV="1">
            <a:off x="6384032" y="2708920"/>
            <a:ext cx="1080120" cy="108012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999660-F8E5-4026-B694-87BABEB3C5C3}"/>
              </a:ext>
            </a:extLst>
          </p:cNvPr>
          <p:cNvCxnSpPr>
            <a:cxnSpLocks/>
          </p:cNvCxnSpPr>
          <p:nvPr/>
        </p:nvCxnSpPr>
        <p:spPr>
          <a:xfrm>
            <a:off x="7464152" y="2718073"/>
            <a:ext cx="1158205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047A10-30F8-4387-9739-F5837641F403}"/>
              </a:ext>
            </a:extLst>
          </p:cNvPr>
          <p:cNvCxnSpPr>
            <a:cxnSpLocks/>
          </p:cNvCxnSpPr>
          <p:nvPr/>
        </p:nvCxnSpPr>
        <p:spPr>
          <a:xfrm>
            <a:off x="8622357" y="2718073"/>
            <a:ext cx="1071512" cy="1070967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AA0333-877C-4415-A6A8-5B388821080C}"/>
              </a:ext>
            </a:extLst>
          </p:cNvPr>
          <p:cNvCxnSpPr>
            <a:cxnSpLocks/>
          </p:cNvCxnSpPr>
          <p:nvPr/>
        </p:nvCxnSpPr>
        <p:spPr>
          <a:xfrm>
            <a:off x="7464152" y="371703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13AEFD-4BF8-40FE-B912-062BA6B93860}"/>
              </a:ext>
            </a:extLst>
          </p:cNvPr>
          <p:cNvCxnSpPr>
            <a:cxnSpLocks/>
          </p:cNvCxnSpPr>
          <p:nvPr/>
        </p:nvCxnSpPr>
        <p:spPr>
          <a:xfrm>
            <a:off x="8622357" y="371703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2D4E9D-9E64-450C-87FA-5EDDF6A3EEDF}"/>
              </a:ext>
            </a:extLst>
          </p:cNvPr>
          <p:cNvCxnSpPr>
            <a:cxnSpLocks/>
          </p:cNvCxnSpPr>
          <p:nvPr/>
        </p:nvCxnSpPr>
        <p:spPr>
          <a:xfrm>
            <a:off x="9693869" y="371703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1BAE4C-998B-42BB-A4A1-9B64928371E3}"/>
              </a:ext>
            </a:extLst>
          </p:cNvPr>
          <p:cNvCxnSpPr>
            <a:cxnSpLocks/>
          </p:cNvCxnSpPr>
          <p:nvPr/>
        </p:nvCxnSpPr>
        <p:spPr>
          <a:xfrm>
            <a:off x="9693869" y="3789040"/>
            <a:ext cx="49820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BB4B34-194E-4700-A68E-0BA867438E8F}"/>
                  </a:ext>
                </a:extLst>
              </p:cNvPr>
              <p:cNvSpPr txBox="1"/>
              <p:nvPr/>
            </p:nvSpPr>
            <p:spPr>
              <a:xfrm>
                <a:off x="5757477" y="2233257"/>
                <a:ext cx="677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BB4B34-194E-4700-A68E-0BA86743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477" y="2233257"/>
                <a:ext cx="677045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922C10-E904-4718-AF1E-61044D6638C1}"/>
                  </a:ext>
                </a:extLst>
              </p:cNvPr>
              <p:cNvSpPr txBox="1"/>
              <p:nvPr/>
            </p:nvSpPr>
            <p:spPr>
              <a:xfrm>
                <a:off x="10292335" y="3861048"/>
                <a:ext cx="34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922C10-E904-4718-AF1E-61044D663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35" y="3861048"/>
                <a:ext cx="3457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3880FE-7416-4143-8FB6-50595A0A5DE1}"/>
                  </a:ext>
                </a:extLst>
              </p:cNvPr>
              <p:cNvSpPr txBox="1"/>
              <p:nvPr/>
            </p:nvSpPr>
            <p:spPr>
              <a:xfrm>
                <a:off x="6153823" y="384650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3880FE-7416-4143-8FB6-50595A0A5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823" y="3846505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D00D20-11C6-4628-99C3-FCE4B1E64153}"/>
              </a:ext>
            </a:extLst>
          </p:cNvPr>
          <p:cNvCxnSpPr>
            <a:cxnSpLocks/>
          </p:cNvCxnSpPr>
          <p:nvPr/>
        </p:nvCxnSpPr>
        <p:spPr>
          <a:xfrm>
            <a:off x="6312024" y="2718073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439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51DAEF-C923-4834-B51C-0FAE47DE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– Fundamentalna matrica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2F0B8E-745A-437B-B0EE-B7FD6D4F5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Fundamentalna </a:t>
                </a:r>
                <a:r>
                  <a:rPr lang="en-US" dirty="0" err="1"/>
                  <a:t>matrica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2F0B8E-745A-437B-B0EE-B7FD6D4F5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024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A197C9-CAA6-4163-BA67-E9877393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– kretanje promenljivih stanja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D8669D1-A4EF-46C9-9347-C3057633B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Kretanje</a:t>
                </a:r>
                <a:r>
                  <a:rPr lang="en-US" dirty="0"/>
                  <a:t> </a:t>
                </a:r>
                <a:r>
                  <a:rPr lang="en-US" dirty="0" err="1"/>
                  <a:t>promenljivih</a:t>
                </a:r>
                <a:r>
                  <a:rPr lang="en-US" dirty="0"/>
                  <a:t> </a:t>
                </a:r>
                <a:r>
                  <a:rPr lang="en-US" dirty="0" err="1"/>
                  <a:t>stanja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(3−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(3−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≥3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D8669D1-A4EF-46C9-9347-C3057633B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543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327534-ADD4-44A9-85C3-D66FC550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– kretanje izlaza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3F4465B-60F1-4CAB-9CEA-D5E96CB96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Kretanje</a:t>
                </a:r>
                <a:r>
                  <a:rPr lang="en-US" dirty="0"/>
                  <a:t> </a:t>
                </a:r>
                <a:r>
                  <a:rPr lang="en-US" dirty="0" err="1"/>
                  <a:t>izlaza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(3−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𝜱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</m:d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𝜱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(3−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≥3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3F4465B-60F1-4CAB-9CEA-D5E96CB96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090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15890B-6D0C-47BE-BF79-E8CC8D7C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- rešenje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003509-192A-4E01-AF14-B8B2EE980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</a:t>
                </a:r>
                <a:r>
                  <a:rPr lang="sr-Latn-RS" dirty="0"/>
                  <a:t>šenje: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+30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6−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9−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6−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9−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6−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9−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≥3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003509-192A-4E01-AF14-B8B2EE980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783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16B896-7AF4-442B-95C2-C9B20E85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– međurezultati ...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DB1D4F-1CFF-478A-A47B-A21B08C0B2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=25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−10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𝜱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−2(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𝜏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𝜏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sr-Latn-RS" sz="1600" dirty="0"/>
                  <a:t>...</a:t>
                </a:r>
                <a:r>
                  <a:rPr lang="en-US" sz="1600" dirty="0"/>
                  <a:t> 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DB1D4F-1CFF-478A-A47B-A21B08C0B2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284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807E94-81E7-4C95-B329-73FE298D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Primer</a:t>
            </a:r>
            <a:r>
              <a:rPr lang="sr-Latn-RS" dirty="0"/>
              <a:t> računanja odziva – međurezultati.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370D0C-BEAF-4655-A66A-7D5A89712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 </a:t>
                </a:r>
                <a:r>
                  <a:rPr lang="sr-Latn-RS" sz="1600" dirty="0"/>
                  <a:t>...</a:t>
                </a: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−2(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−2(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en-US" sz="16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(3−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10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(3−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−2(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(3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370D0C-BEAF-4655-A66A-7D5A89712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2" b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679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5460</TotalTime>
  <Words>2831</Words>
  <Application>Microsoft Office PowerPoint</Application>
  <PresentationFormat>Widescreen</PresentationFormat>
  <Paragraphs>431</Paragraphs>
  <Slides>39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Cambria Math</vt:lpstr>
      <vt:lpstr>Office Theme</vt:lpstr>
      <vt:lpstr>Linearani matematički modeli</vt:lpstr>
      <vt:lpstr>Osobine linearnih modela</vt:lpstr>
      <vt:lpstr>Osobine linearnih modela</vt:lpstr>
      <vt:lpstr>Primer 1</vt:lpstr>
      <vt:lpstr>Primer 2</vt:lpstr>
      <vt:lpstr>Primer 3</vt:lpstr>
      <vt:lpstr>Primer 4</vt:lpstr>
      <vt:lpstr>Primer 5</vt:lpstr>
      <vt:lpstr>Linearan model: primeri odziva (desno) na pobudu (levo)</vt:lpstr>
      <vt:lpstr>Kakav model posmatramo?</vt:lpstr>
      <vt:lpstr>Matematički model u prostoru stanja</vt:lpstr>
      <vt:lpstr>Promenljive za opis modela</vt:lpstr>
      <vt:lpstr>Linearan matematički model u prostoru stanja</vt:lpstr>
      <vt:lpstr>Linearan matematički model u prostoru stanja</vt:lpstr>
      <vt:lpstr>Primer iz mehaničkih sistema – ranije rađeno</vt:lpstr>
      <vt:lpstr>(In)varijantan model</vt:lpstr>
      <vt:lpstr>Transformacija dif. jedn. višeg reda u sistem dif. jednačina 1. reda</vt:lpstr>
      <vt:lpstr>Transformacija dif. jedn. višeg reda u sistem dif. jednačina 1. reda (2)</vt:lpstr>
      <vt:lpstr>Funkcija prenosa</vt:lpstr>
      <vt:lpstr>Funkcija prenosa</vt:lpstr>
      <vt:lpstr>Funkcija prenosa (2)</vt:lpstr>
      <vt:lpstr>Primer</vt:lpstr>
      <vt:lpstr>Funkcija prenosa – faktorizovan oblik</vt:lpstr>
      <vt:lpstr>Funkcija prenosa multivarijabilnog sistema</vt:lpstr>
      <vt:lpstr>Primer funkcije prenosa sistema sa 2 ulaza i 2 izlaza</vt:lpstr>
      <vt:lpstr>Dobijanje funkcije prenosa od linearnog matematičkog modela u prostoru stanja</vt:lpstr>
      <vt:lpstr>Primer</vt:lpstr>
      <vt:lpstr>PowerPoint Presentation</vt:lpstr>
      <vt:lpstr>Prednosti koncepta prostora stanja</vt:lpstr>
      <vt:lpstr>Matematički model u prostoru stanja</vt:lpstr>
      <vt:lpstr>Izračunavanje kretanja modela</vt:lpstr>
      <vt:lpstr>Izračunavanje kretanja modela (2) </vt:lpstr>
      <vt:lpstr>Primer računanja odziva</vt:lpstr>
      <vt:lpstr>Primer računanja odziva – Fundamentalna matrica</vt:lpstr>
      <vt:lpstr>Primer računanja odziva – kretanje promenljivih stanja</vt:lpstr>
      <vt:lpstr>Primer računanja odziva – kretanje izlaza</vt:lpstr>
      <vt:lpstr>Primer računanja odziva - rešenje</vt:lpstr>
      <vt:lpstr>Primer računanja odziva – međurezultati ...</vt:lpstr>
      <vt:lpstr>Primer računanja odziva – međurezultati.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Translatorni mehanički sistemi</dc:title>
  <dc:creator>A. Erdeljan</dc:creator>
  <cp:lastModifiedBy>Aleksandar Erdeljan</cp:lastModifiedBy>
  <cp:revision>247</cp:revision>
  <dcterms:created xsi:type="dcterms:W3CDTF">2007-11-06T11:19:48Z</dcterms:created>
  <dcterms:modified xsi:type="dcterms:W3CDTF">2023-11-02T12:45:35Z</dcterms:modified>
</cp:coreProperties>
</file>