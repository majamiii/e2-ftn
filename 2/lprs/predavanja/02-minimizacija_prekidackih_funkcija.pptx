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embeddings/oleObject1.bin" ContentType="application/vnd.openxmlformats-officedocument.oleObject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2.wmf" ContentType="image/x-wmf"/>
  <Override PartName="/ppt/media/image1.png" ContentType="image/png"/>
  <Override PartName="/ppt/media/image2.png" ContentType="image/png"/>
  <Override PartName="/ppt/media/image3.jpeg" ContentType="image/jpeg"/>
  <Override PartName="/ppt/media/image4.wmf" ContentType="image/x-wmf"/>
  <Override PartName="/ppt/media/image5.wmf" ContentType="image/x-wmf"/>
  <Override PartName="/ppt/media/image6.wmf" ContentType="image/x-wmf"/>
  <Override PartName="/ppt/media/image8.png" ContentType="image/png"/>
  <Override PartName="/ppt/media/image7.wmf" ContentType="image/x-wmf"/>
  <Override PartName="/ppt/media/image9.wmf" ContentType="image/x-wmf"/>
  <Override PartName="/ppt/media/image10.wmf" ContentType="image/x-wmf"/>
  <Override PartName="/ppt/media/image11.wmf" ContentType="image/x-wmf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wmf" ContentType="image/x-wmf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6858000"/>
  <p:notesSz cx="6670675" cy="99250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9671B3C-45EE-481E-A658-39EDFB1C457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>
            <a:off x="3780000" y="9429840"/>
            <a:ext cx="2886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marL="216000" indent="-216000" algn="r">
              <a:lnSpc>
                <a:spcPct val="100000"/>
              </a:lnSpc>
              <a:spcBef>
                <a:spcPts val="312"/>
              </a:spcBef>
              <a:spcAft>
                <a:spcPts val="11"/>
              </a:spcAft>
              <a:buClr>
                <a:srgbClr val="ffffff"/>
              </a:buClr>
              <a:buFont typeface="Wingdings" charset="2"/>
              <a:buChar char="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30937F71-10FF-44FC-A346-99C90F72BF26}" type="slidenum">
              <a:rPr b="0" lang="en-US" sz="12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852480" y="744480"/>
            <a:ext cx="4961880" cy="372060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888480" y="4714560"/>
            <a:ext cx="4889160" cy="44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blipFill rotWithShape="0">
          <a:blip r:embed="rId2"/>
          <a:tile tx="0" ty="0" sx="83311" sy="83307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3352680" y="0"/>
            <a:ext cx="5789160" cy="150120"/>
          </a:xfrm>
          <a:prstGeom prst="rect">
            <a:avLst/>
          </a:prstGeom>
          <a:blipFill rotWithShape="0">
            <a:blip r:embed="rId3"/>
            <a:srcRect/>
            <a:tile tx="0" ty="0" sx="100000" sy="100000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371240" y="228600"/>
            <a:ext cx="6168600" cy="121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754280"/>
            <a:ext cx="83782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3719520" y="240048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blipFill rotWithShape="0">
          <a:blip r:embed="rId2">
            <a:alphaModFix amt="50000"/>
          </a:blip>
          <a:tile tx="0" ty="0" sx="83311" sy="83307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371240" y="228600"/>
            <a:ext cx="6168600" cy="121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34960" y="1828800"/>
            <a:ext cx="8378280" cy="47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7.wmf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.wmf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3" Type="http://schemas.openxmlformats.org/officeDocument/2006/relationships/image" Target="../media/image11.wmf"/><Relationship Id="rId4" Type="http://schemas.openxmlformats.org/officeDocument/2006/relationships/image" Target="../media/image12.wmf"/><Relationship Id="rId5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wmf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3719520" y="240048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 flipH="1">
            <a:off x="2134800" y="4878360"/>
            <a:ext cx="4869000" cy="1440"/>
          </a:xfrm>
          <a:prstGeom prst="line">
            <a:avLst/>
          </a:prstGeom>
          <a:ln w="9360">
            <a:solidFill>
              <a:srgbClr val="6f89f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838080" y="2514600"/>
            <a:ext cx="7465680" cy="22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Minimizacija prekida</a:t>
            </a:r>
            <a:r>
              <a:rPr b="1" lang="sr-Latn-CS" sz="32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čkih funkcija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Uvod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468360" y="1700280"/>
            <a:ext cx="8379720" cy="48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U projektovanju kombinacionih mreža jedan od bitnih zadataka je minimizacija Bulovih funkcija kojima je opisana kombinaciona mreža.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U opštem slučaju zadatak minimizacije Bulovih funkcija se svodi na određivanje Bulove funkcije sa minimalnim brojem superpozicija unutar jednog funkcionalno potpunog sistema.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561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Times New Roman"/>
              </a:rPr>
              <a:t>Inženjerski gledano, cilj je svesti količinu upotrebljenih logičkih kola na minimum, a da izlazna funkcija bude očuvana.</a:t>
            </a: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0F78A638-8189-4306-B444-6A4CF0845FCF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1577880" y="80640"/>
            <a:ext cx="6856560" cy="652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Motivacija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468360" y="1484280"/>
            <a:ext cx="8379720" cy="48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Zbog nepostojanja dovoljno efikasnih rešenja tako postavljenog zadatka rešenje se traži u minimizaciji (traženju minimalnih formi) Bulove funkcije unutar konkretnog funkcionalno potpunog sistema.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Najčešće je to sistem koji obrazuje konjukcija, disjunkcija i negacija.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Negacija (NE) Konjunkcija (I) Disjunkcija (ILI)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89755103-A59E-4527-8EE4-A887BB85C36E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Primer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80880" y="1413000"/>
            <a:ext cx="7860960" cy="51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62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Izvršiti analizu realizacije funkcije n = 4 promenljive, zadate skupom indeksa</a:t>
            </a: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slogova</a:t>
            </a: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f1 = </a:t>
            </a:r>
            <a:r>
              <a:rPr b="0" lang="sr-Latn-C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(5, 6, 9, 10, 13, 14).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i="1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Rešenje: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Funkciju je moguće napisati na sledeće načine: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a)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b)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c)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00E8A167-72EE-4494-9832-D36CF400B055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1187280" y="3141720"/>
            <a:ext cx="7127640" cy="7740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sp>
        <p:nvSpPr>
          <p:cNvPr id="32" name=""/>
          <p:cNvSpPr/>
          <p:nvPr/>
        </p:nvSpPr>
        <p:spPr>
          <a:xfrm>
            <a:off x="1187280" y="4076640"/>
            <a:ext cx="6478200" cy="4312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0" y="331488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1116000" y="4941720"/>
            <a:ext cx="4749120" cy="4345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DFCD3DF6-277B-43EA-863E-3E41862F9E24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0" y="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graphicFrame>
        <p:nvGraphicFramePr>
          <p:cNvPr id="38" name=""/>
          <p:cNvGraphicFramePr/>
          <p:nvPr/>
        </p:nvGraphicFramePr>
        <p:xfrm>
          <a:off x="2403360" y="260280"/>
          <a:ext cx="4555800" cy="65955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39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403360" y="260280"/>
                    <a:ext cx="4555800" cy="65955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40" name="" descr=""/>
          <p:cNvPicPr/>
          <p:nvPr/>
        </p:nvPicPr>
        <p:blipFill>
          <a:blip r:embed="rId3"/>
          <a:stretch/>
        </p:blipFill>
        <p:spPr>
          <a:xfrm>
            <a:off x="2403360" y="4844880"/>
            <a:ext cx="4452480" cy="201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Minimizacija pomoću Karnoovih mapa (Karnaugh) 1/3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80880" y="1600200"/>
            <a:ext cx="8380080" cy="48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422748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pl-PL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Ovaj metod koristi modifikovanu kombinacionu tablicu sa brojem ćelija jednakim broju slogova Bulove funkcije.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422748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pl-PL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Da bi se Bulova funkcija unela u tablicu uzima se onaj  slog na kome je vrednost funkcije 1 i unosi u ćeliju koja odgovara tome slogu. Uobičajeno je da se ćelije sa vrednošću funkcije 0 ostavljaju prazne.</a:t>
            </a: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1B272355-5D26-4E89-98E9-90A88C09DB58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Minimizacija pomoću Karnoovih mapa (Karnaugh) 2/3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DFB43FDD-E529-4160-B558-0B3A60C567E3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0" y="230976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000" bIns="-4500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graphicFrame>
        <p:nvGraphicFramePr>
          <p:cNvPr id="49" name=""/>
          <p:cNvGraphicFramePr/>
          <p:nvPr/>
        </p:nvGraphicFramePr>
        <p:xfrm>
          <a:off x="2050920" y="3789360"/>
          <a:ext cx="5182920" cy="29203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50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050920" y="3789360"/>
                    <a:ext cx="5182920" cy="2920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1" name=""/>
          <p:cNvSpPr/>
          <p:nvPr/>
        </p:nvSpPr>
        <p:spPr>
          <a:xfrm>
            <a:off x="1187280" y="436572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sp>
        <p:nvSpPr>
          <p:cNvPr id="52" name=""/>
          <p:cNvSpPr/>
          <p:nvPr/>
        </p:nvSpPr>
        <p:spPr>
          <a:xfrm>
            <a:off x="324000" y="1506600"/>
            <a:ext cx="8493840" cy="239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marL="216000" indent="-216000" algn="just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Slogovi koji se razlikuju samo po vrednosti jedne promenljive nazvaće se logički susednim. To znači da su sve fizički susedne ćelije na Kar</a:t>
            </a: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noo</a:t>
            </a: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voj karti logički susedne ćelije, što predstavlja osnovnu karakteristiku ovog metoda minimizacije. Ovo je omogućeno primenom Grejovog koda, kod koga se N-ti i N+1-vi broj međusobno razlikuju samo u jednom razredu.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Minimizacija pomoću Karnoovih mapa (Karnaugh) 3/3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A5A0F8A0-F8CC-4178-ABCC-02D3080FE861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>
            <a:off x="2411280" y="1484280"/>
            <a:ext cx="3345840" cy="3837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aphicFrame>
        <p:nvGraphicFramePr>
          <p:cNvPr id="58" name=""/>
          <p:cNvGraphicFramePr/>
          <p:nvPr/>
        </p:nvGraphicFramePr>
        <p:xfrm>
          <a:off x="611280" y="2924280"/>
          <a:ext cx="3671280" cy="179496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59" name="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11280" y="2924280"/>
                    <a:ext cx="3671280" cy="17949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0" name=""/>
          <p:cNvSpPr/>
          <p:nvPr/>
        </p:nvSpPr>
        <p:spPr>
          <a:xfrm>
            <a:off x="611280" y="5589720"/>
            <a:ext cx="4425120" cy="4532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" name=""/>
          <p:cNvSpPr/>
          <p:nvPr/>
        </p:nvSpPr>
        <p:spPr>
          <a:xfrm>
            <a:off x="0" y="175104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684360" y="2058120"/>
            <a:ext cx="5938200" cy="11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marL="216000" indent="-216000">
              <a:lnSpc>
                <a:spcPct val="90000"/>
              </a:lnSpc>
              <a:spcBef>
                <a:spcPts val="46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i="1" lang="pl-PL" sz="1800" strike="noStrike" u="none">
                <a:solidFill>
                  <a:srgbClr val="40458c"/>
                </a:solidFill>
                <a:effectLst/>
                <a:uFillTx/>
                <a:latin typeface="Times New Roman"/>
                <a:ea typeface="Times New Roman"/>
              </a:rPr>
              <a:t>Re</a:t>
            </a:r>
            <a:r>
              <a:rPr b="1" i="1" lang="pl-PL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Times New Roman"/>
              </a:rPr>
              <a:t>š</a:t>
            </a:r>
            <a:r>
              <a:rPr b="1" i="1" lang="pl-PL" sz="1800" strike="noStrike" u="none">
                <a:solidFill>
                  <a:srgbClr val="40458c"/>
                </a:solidFill>
                <a:effectLst/>
                <a:uFillTx/>
                <a:latin typeface="Times New Roman"/>
                <a:ea typeface="Times New Roman"/>
              </a:rPr>
              <a:t>enje: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pl-PL" sz="1800" strike="noStrike" u="none">
                <a:solidFill>
                  <a:srgbClr val="40458c"/>
                </a:solidFill>
                <a:effectLst/>
                <a:uFillTx/>
                <a:latin typeface="Times New Roman"/>
                <a:ea typeface="Times New Roman"/>
              </a:rPr>
              <a:t>Za zadati skup indeksa na kojima funkcija ima vrednost 1 formira se K karta.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39640" y="4696200"/>
            <a:ext cx="705456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marL="216000" indent="-216000">
              <a:lnSpc>
                <a:spcPct val="90000"/>
              </a:lnSpc>
              <a:spcBef>
                <a:spcPts val="46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pl-PL" sz="1800" strike="noStrike" u="none">
                <a:solidFill>
                  <a:srgbClr val="40458c"/>
                </a:solidFill>
                <a:effectLst/>
                <a:uFillTx/>
                <a:latin typeface="Times New Roman"/>
                <a:ea typeface="Times New Roman"/>
              </a:rPr>
              <a:t>Iz K-karte se uočavaju figure ranga 2 i ranga 0, odnosno, minimalna DNF je data izrazom: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11280" y="1484280"/>
            <a:ext cx="280620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16000" indent="-216000">
              <a:lnSpc>
                <a:spcPct val="90000"/>
              </a:lnSpc>
              <a:spcBef>
                <a:spcPts val="1137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minimizovati: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4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Analitički metod minimizacije Bulovih funkcija (Quine McCluskey) 1</a:t>
            </a:r>
            <a:r>
              <a:rPr b="1" lang="en-US" sz="24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/6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80880" y="1600200"/>
            <a:ext cx="8380080" cy="48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Analitički metod ili tabelarni metod minimizacije Bulovih funkcija, predstavlja potpuno formalizovanu proceduru koja iz koraka u korak dovodi do jednoznačnog rezultata, odnosno, do potpunog skupa skraćenih DNF, odnosno do nepreopširnih skraćenih DNF.</a:t>
            </a: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(</a:t>
            </a: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W.V. Quine i E.J. McCluskey 1956</a:t>
            </a: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Tabelarni metod minimizacije sastoji se od dva koraka. U prvom se pronalazi potpun skup prostih implikanti a u drugom sa izabira ne preopširan potpun sistem prostih implikanti koji daje izraz za minimalnu DNF.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47D0F1FA-312F-4488-B39D-944CC682EC66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Analitički metod minimizacije Bulovih funkcija 2</a:t>
            </a: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/6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80880" y="1600200"/>
            <a:ext cx="8380080" cy="449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Times New Roman"/>
              </a:rPr>
              <a:t>Primer: </a:t>
            </a: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minimizovati QMC metodom:</a:t>
            </a:r>
            <a:r>
              <a:rPr b="0" lang="en-U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f1(X1,X2,X3,X4)=(0,3,5,7,11,13,15)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9B005711-375B-424E-94CE-AD08D3A8E275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Analitički metod minimizacije Bulovih funkcija </a:t>
            </a: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3/6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80880" y="1600200"/>
            <a:ext cx="8380080" cy="449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Times New Roman"/>
              </a:rPr>
              <a:t>Tabelarno predstavljamo funkciju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12E12D88-C7FB-4D9F-A20A-0715079E65B8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1619280" y="2060640"/>
            <a:ext cx="5038200" cy="438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Analitički metod minimizacije Bulovih funkcija </a:t>
            </a: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4/6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380880" y="1268280"/>
            <a:ext cx="8380080" cy="48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Times New Roman"/>
              </a:rPr>
              <a:t>Prvi put prolazimo kroz tabelu i tražimo slične slogove. Grupišemo slične (različite za jednu bitsku poziciju), objedinjujemo stanja i prepisujemo u desnu tabelu.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AC325E94-0645-486D-9289-43C056207E4B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324000" y="3573360"/>
            <a:ext cx="4606200" cy="200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5364000" y="3573360"/>
            <a:ext cx="3095280" cy="214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Analitički metod minimizacije Bulovih funkcija </a:t>
            </a: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5/6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80880" y="1600200"/>
            <a:ext cx="8380080" cy="449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2400" strike="noStrike" u="none">
                <a:solidFill>
                  <a:srgbClr val="40458c"/>
                </a:solidFill>
                <a:effectLst/>
                <a:uFillTx/>
                <a:latin typeface="Tahoma"/>
                <a:ea typeface="Times New Roman"/>
              </a:rPr>
              <a:t>Nastavljamo proces...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E7747BB6-CE39-4C18-BD3A-D24496B053BD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755640" y="2852640"/>
            <a:ext cx="3237840" cy="224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4356000" y="2852640"/>
            <a:ext cx="3238200" cy="127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sr-Latn-C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Analitički metod minimizacije Bulovih funkcija </a:t>
            </a: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6/6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80880" y="1600200"/>
            <a:ext cx="8380080" cy="449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FF2AEAC1-BECF-4754-943B-A40FD60DC67D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4716360" y="2205000"/>
            <a:ext cx="3310920" cy="101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/>
          <p:nvPr/>
        </p:nvSpPr>
        <p:spPr>
          <a:xfrm>
            <a:off x="0" y="0"/>
            <a:ext cx="9141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3600" strike="noStrike" u="none">
              <a:solidFill>
                <a:srgbClr val="40458c"/>
              </a:solidFill>
              <a:effectLst/>
              <a:uFillTx/>
              <a:latin typeface="Tahoma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1763640" y="4076640"/>
            <a:ext cx="5470200" cy="5788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8" name="" descr=""/>
          <p:cNvPicPr/>
          <p:nvPr/>
        </p:nvPicPr>
        <p:blipFill>
          <a:blip r:embed="rId3"/>
          <a:stretch/>
        </p:blipFill>
        <p:spPr>
          <a:xfrm>
            <a:off x="684360" y="2133720"/>
            <a:ext cx="3093480" cy="122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Problem Analitičkog metoda minimizacije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85800" y="1828800"/>
            <a:ext cx="7770240" cy="43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Kompleksnost metode eksponencijalno raste sa brojem Bulovih promenljivih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Ne koristi se u praktičnim alatima poput Quartus-a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Problem minimizacije Bulovih f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85800" y="1828800"/>
            <a:ext cx="7770240" cy="43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Na šta se svodi: pronaći najmanji oblik sume proizvoda DNF ili proizvoda suma KNF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Broj mogućih implikanti, odnosno njihovih kombinacija raste eksponencijalno s brojem promenljivih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Problem je aktualan, početkom 80-ih godina Brayton sa Berkeley-a, sa saradnicima objavljuje metodu pod nazivom ESPRESSO.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ESSPRESSO metoda sa svojim varijacijama predstavlja uobičajeno rešenje problema minimizacije u savremenim alatima poput Quartus-a, Cadence-a, Synopsys-a, Siemens-a...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Espresso metoda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85800" y="1828800"/>
            <a:ext cx="7770240" cy="25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Bazirana je na geometrijskoj interpretaciji Bulovih f, odnosno binarnih vrednosti.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Svaka n-bitna binarna vrednost se može predstaviti kao tačka u n-dimenzionom prostoru. Ona se može tumačiti kao minterm. Susedni mintermi se razlikuju za 1 varijablu. Susedne minterme koji formiraju pravilne poligone (duž, kvadrat, kocku, hiperkocku…) pokrivamo implikantama.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rcRect l="8404" t="75970" r="9962" b="3623"/>
          <a:stretch/>
        </p:blipFill>
        <p:spPr>
          <a:xfrm>
            <a:off x="685800" y="6172200"/>
            <a:ext cx="1369440" cy="34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3200400" y="5029200"/>
            <a:ext cx="1598040" cy="159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3"/>
          <a:srcRect l="8329" t="8329" r="8344" b="8344"/>
          <a:stretch/>
        </p:blipFill>
        <p:spPr>
          <a:xfrm>
            <a:off x="5943600" y="4343400"/>
            <a:ext cx="2283840" cy="228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4"/>
          <a:srcRect l="8404" t="75970" r="9962" b="3623"/>
          <a:stretch/>
        </p:blipFill>
        <p:spPr>
          <a:xfrm>
            <a:off x="685800" y="6172560"/>
            <a:ext cx="1369440" cy="34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Espresso metoda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57200" y="1765440"/>
            <a:ext cx="7998840" cy="41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Bulovu funkciju F(X1​,X2​,…,Xn​) posmatramo kao tri disjunknta skupa: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ON-set (skup jedinica): sve kombinacije promenljivih za koje  F=1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OFF-set (skup nula): sve kombinacije promenlijvih za koje F=0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DON’T-CARE set (DC-set): sve kombincije promenljivih za koje je vrednost F bilo koja.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1371600" y="228600"/>
            <a:ext cx="61700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800" strike="noStrike" u="none">
                <a:solidFill>
                  <a:srgbClr val="660066"/>
                </a:solidFill>
                <a:effectLst/>
                <a:uFillTx/>
                <a:latin typeface="Tahoma"/>
                <a:ea typeface="DejaVu Sans"/>
              </a:rPr>
              <a:t>Espresso metoda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2" name=""/>
          <p:cNvGrpSpPr/>
          <p:nvPr/>
        </p:nvGrpSpPr>
        <p:grpSpPr>
          <a:xfrm>
            <a:off x="5222520" y="1371600"/>
            <a:ext cx="4054320" cy="5216040"/>
            <a:chOff x="5222520" y="1371600"/>
            <a:chExt cx="4054320" cy="5216040"/>
          </a:xfrm>
        </p:grpSpPr>
        <p:grpSp>
          <p:nvGrpSpPr>
            <p:cNvPr id="113" name=""/>
            <p:cNvGrpSpPr/>
            <p:nvPr/>
          </p:nvGrpSpPr>
          <p:grpSpPr>
            <a:xfrm>
              <a:off x="5294160" y="1771560"/>
              <a:ext cx="3699720" cy="4816080"/>
              <a:chOff x="5294160" y="1771560"/>
              <a:chExt cx="3699720" cy="4816080"/>
            </a:xfrm>
          </p:grpSpPr>
          <p:sp>
            <p:nvSpPr>
              <p:cNvPr id="114" name=""/>
              <p:cNvSpPr/>
              <p:nvPr/>
            </p:nvSpPr>
            <p:spPr>
              <a:xfrm rot="16200000">
                <a:off x="4733640" y="3457440"/>
                <a:ext cx="3618360" cy="499680"/>
              </a:xfrm>
              <a:custGeom>
                <a:avLst/>
                <a:gdLst>
                  <a:gd name="textAreaLeft" fmla="*/ 0 w 3618360"/>
                  <a:gd name="textAreaRight" fmla="*/ 3620520 w 3618360"/>
                  <a:gd name="textAreaTop" fmla="*/ 0 h 499680"/>
                  <a:gd name="textAreaBottom" fmla="*/ 501840 h 499680"/>
                  <a:gd name="GluePoint1X" fmla="*/ 14 w 21600"/>
                  <a:gd name="GluePoint1Y" fmla="*/ 16 h 21600"/>
                  <a:gd name="GluePoint2X" fmla="*/ 18 w 21600"/>
                  <a:gd name="GluePoint2Y" fmla="*/ 20 h 21600"/>
                  <a:gd name="GluePoint3X" fmla="*/ 22 w 21600"/>
                  <a:gd name="GluePoint3Y" fmla="*/ 24 h 21600"/>
                  <a:gd name="GluePoint4X" fmla="*/ 26 w 21600"/>
                  <a:gd name="GluePoint4Y" fmla="*/ 28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lnTo>
                      <a:pt x="6376" y="21600"/>
                    </a:lnTo>
                    <a:lnTo>
                      <a:pt x="1522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ccff">
                  <a:alpha val="50000"/>
                </a:srgbClr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 flipH="1" rot="5400000">
                <a:off x="5164560" y="3582000"/>
                <a:ext cx="2260080" cy="999720"/>
              </a:xfrm>
              <a:prstGeom prst="parallelogram">
                <a:avLst>
                  <a:gd name="adj" fmla="val 159680"/>
                </a:avLst>
              </a:prstGeom>
              <a:solidFill>
                <a:srgbClr val="ff00ff">
                  <a:alpha val="50000"/>
                </a:srgbClr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>
                <a:off x="5796000" y="3702600"/>
                <a:ext cx="1432440" cy="1505880"/>
              </a:xfrm>
              <a:prstGeom prst="rect">
                <a:avLst/>
              </a:prstGeom>
              <a:solidFill>
                <a:srgbClr val="ffff00">
                  <a:alpha val="50000"/>
                </a:srgbClr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5796000" y="3710880"/>
                <a:ext cx="1432440" cy="1504080"/>
              </a:xfrm>
              <a:prstGeom prst="rect">
                <a:avLst/>
              </a:prstGeom>
              <a:noFill/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6800040" y="2948400"/>
                <a:ext cx="1432080" cy="1505880"/>
              </a:xfrm>
              <a:prstGeom prst="rect">
                <a:avLst/>
              </a:prstGeom>
              <a:noFill/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 flipV="1">
                <a:off x="5794560" y="2949480"/>
                <a:ext cx="1003680" cy="75420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 flipV="1">
                <a:off x="7232400" y="2949480"/>
                <a:ext cx="1003680" cy="75420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 flipV="1">
                <a:off x="7232400" y="4459680"/>
                <a:ext cx="1003680" cy="75420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 flipV="1">
                <a:off x="5802480" y="4459680"/>
                <a:ext cx="1003680" cy="75420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6112800" y="5274000"/>
                <a:ext cx="2757600" cy="490680"/>
              </a:xfrm>
              <a:prstGeom prst="ellipse">
                <a:avLst/>
              </a:prstGeom>
              <a:solidFill>
                <a:srgbClr val="00ff00">
                  <a:alpha val="50000"/>
                </a:srgbClr>
              </a:solidFill>
              <a:ln w="25560">
                <a:solidFill>
                  <a:srgbClr val="0033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 rot="19500000">
                <a:off x="7330680" y="5646600"/>
                <a:ext cx="1668240" cy="50868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5560">
                <a:solidFill>
                  <a:srgbClr val="8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>
                <a:off x="5295600" y="2647080"/>
                <a:ext cx="2436120" cy="3618360"/>
              </a:xfrm>
              <a:prstGeom prst="rect">
                <a:avLst/>
              </a:prstGeom>
              <a:noFill/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>
                <a:off x="6299640" y="1891440"/>
                <a:ext cx="2436120" cy="3618360"/>
              </a:xfrm>
              <a:prstGeom prst="rect">
                <a:avLst/>
              </a:prstGeom>
              <a:noFill/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>
                <a:off x="5294160" y="2647080"/>
                <a:ext cx="501840" cy="1055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 flipV="1">
                <a:off x="5294160" y="5214240"/>
                <a:ext cx="501840" cy="105480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7232400" y="5214240"/>
                <a:ext cx="501840" cy="105480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8244360" y="4458600"/>
                <a:ext cx="501840" cy="105480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 flipH="1">
                <a:off x="5295240" y="1891440"/>
                <a:ext cx="1008360" cy="75384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 flipH="1">
                <a:off x="7737120" y="1891440"/>
                <a:ext cx="1008360" cy="75384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 flipH="1">
                <a:off x="6301080" y="4458600"/>
                <a:ext cx="501840" cy="105480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>
                <a:off x="6299640" y="1891440"/>
                <a:ext cx="501480" cy="1055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 flipH="1">
                <a:off x="7233840" y="2655360"/>
                <a:ext cx="501840" cy="1055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 flipH="1">
                <a:off x="8237880" y="1891440"/>
                <a:ext cx="501840" cy="1055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 flipH="1">
                <a:off x="7735680" y="5515560"/>
                <a:ext cx="1003680" cy="75384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 flipH="1">
                <a:off x="5295600" y="5515560"/>
                <a:ext cx="1003680" cy="753840"/>
              </a:xfrm>
              <a:prstGeom prst="line">
                <a:avLst/>
              </a:prstGeom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 rot="5400000">
                <a:off x="5668560" y="4208040"/>
                <a:ext cx="3618360" cy="499680"/>
              </a:xfrm>
              <a:custGeom>
                <a:avLst/>
                <a:gdLst>
                  <a:gd name="textAreaLeft" fmla="*/ 0 w 3618360"/>
                  <a:gd name="textAreaRight" fmla="*/ 3620520 w 3618360"/>
                  <a:gd name="textAreaTop" fmla="*/ 0 h 499680"/>
                  <a:gd name="textAreaBottom" fmla="*/ 501840 h 499680"/>
                  <a:gd name="GluePoint1X" fmla="*/ 14 w 21600"/>
                  <a:gd name="GluePoint1Y" fmla="*/ 16 h 21600"/>
                  <a:gd name="GluePoint2X" fmla="*/ 18 w 21600"/>
                  <a:gd name="GluePoint2Y" fmla="*/ 20 h 21600"/>
                  <a:gd name="GluePoint3X" fmla="*/ 22 w 21600"/>
                  <a:gd name="GluePoint3Y" fmla="*/ 24 h 21600"/>
                  <a:gd name="GluePoint4X" fmla="*/ 26 w 21600"/>
                  <a:gd name="GluePoint4Y" fmla="*/ 28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lnTo>
                      <a:pt x="6109" y="21600"/>
                    </a:lnTo>
                    <a:lnTo>
                      <a:pt x="1549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0099">
                  <a:alpha val="50000"/>
                </a:srgbClr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6185520" y="1771560"/>
                <a:ext cx="225720" cy="235800"/>
              </a:xfrm>
              <a:prstGeom prst="ellipse">
                <a:avLst/>
              </a:prstGeom>
              <a:solidFill>
                <a:srgbClr val="000000"/>
              </a:solidFill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7621920" y="2525760"/>
                <a:ext cx="225720" cy="237240"/>
              </a:xfrm>
              <a:prstGeom prst="ellipse">
                <a:avLst/>
              </a:prstGeom>
              <a:solidFill>
                <a:srgbClr val="000000"/>
              </a:solidFill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6686280" y="2826720"/>
                <a:ext cx="225720" cy="237240"/>
              </a:xfrm>
              <a:prstGeom prst="ellipse">
                <a:avLst/>
              </a:prstGeom>
              <a:solidFill>
                <a:srgbClr val="000000"/>
              </a:solidFill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5682240" y="3582720"/>
                <a:ext cx="223920" cy="237240"/>
              </a:xfrm>
              <a:prstGeom prst="ellipse">
                <a:avLst/>
              </a:prstGeom>
              <a:solidFill>
                <a:srgbClr val="000000"/>
              </a:solidFill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7116840" y="3582720"/>
                <a:ext cx="225720" cy="237240"/>
              </a:xfrm>
              <a:prstGeom prst="ellipse">
                <a:avLst/>
              </a:prstGeom>
              <a:solidFill>
                <a:srgbClr val="000000"/>
              </a:solidFill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>
                <a:off x="6679800" y="4338360"/>
                <a:ext cx="225720" cy="235800"/>
              </a:xfrm>
              <a:prstGeom prst="ellipse">
                <a:avLst/>
              </a:prstGeom>
              <a:solidFill>
                <a:srgbClr val="000000"/>
              </a:solidFill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>
                <a:off x="7123320" y="5092560"/>
                <a:ext cx="225720" cy="237240"/>
              </a:xfrm>
              <a:prstGeom prst="ellipse">
                <a:avLst/>
              </a:prstGeom>
              <a:solidFill>
                <a:srgbClr val="000000"/>
              </a:solidFill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6185520" y="5393880"/>
                <a:ext cx="225720" cy="237240"/>
              </a:xfrm>
              <a:prstGeom prst="ellipse">
                <a:avLst/>
              </a:prstGeom>
              <a:solidFill>
                <a:srgbClr val="000000"/>
              </a:solidFill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>
                <a:off x="8625600" y="5398920"/>
                <a:ext cx="224280" cy="237240"/>
              </a:xfrm>
              <a:prstGeom prst="ellipse">
                <a:avLst/>
              </a:prstGeom>
              <a:solidFill>
                <a:srgbClr val="000000"/>
              </a:solidFill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7621920" y="6149880"/>
                <a:ext cx="225720" cy="237240"/>
              </a:xfrm>
              <a:prstGeom prst="ellipse">
                <a:avLst/>
              </a:prstGeom>
              <a:solidFill>
                <a:srgbClr val="000000"/>
              </a:solidFill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>
                <a:off x="5682240" y="5092560"/>
                <a:ext cx="223920" cy="237240"/>
              </a:xfrm>
              <a:prstGeom prst="ellipse">
                <a:avLst/>
              </a:prstGeom>
              <a:solidFill>
                <a:srgbClr val="000000"/>
              </a:solidFill>
              <a:ln w="255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913"/>
                  </a:spcBef>
                  <a:spcAft>
                    <a:spcPts val="11"/>
                  </a:spcAft>
                  <a:tabLst>
                    <a:tab algn="l" pos="0"/>
                    <a:tab algn="l" pos="457200"/>
                    <a:tab algn="l" pos="914400"/>
                    <a:tab algn="l" pos="1371600"/>
                    <a:tab algn="l" pos="1828800"/>
                    <a:tab algn="l" pos="2286000"/>
                    <a:tab algn="l" pos="2743200"/>
                    <a:tab algn="l" pos="3200400"/>
                    <a:tab algn="l" pos="3657600"/>
                    <a:tab algn="l" pos="4114800"/>
                    <a:tab algn="l" pos="4572000"/>
                    <a:tab algn="l" pos="5029200"/>
                    <a:tab algn="l" pos="5486400"/>
                    <a:tab algn="l" pos="5943600"/>
                    <a:tab algn="l" pos="6400800"/>
                    <a:tab algn="l" pos="6858000"/>
                    <a:tab algn="l" pos="7315200"/>
                    <a:tab algn="l" pos="7772400"/>
                    <a:tab algn="l" pos="8229600"/>
                    <a:tab algn="l" pos="8686800"/>
                    <a:tab algn="l" pos="9144000"/>
                  </a:tabLst>
                </a:pPr>
                <a:endParaRPr b="0" lang="en-US" sz="3600" strike="noStrike" u="none">
                  <a:solidFill>
                    <a:srgbClr val="40458c"/>
                  </a:solidFill>
                  <a:effectLst/>
                  <a:uFillTx/>
                  <a:latin typeface="Tahoma"/>
                  <a:ea typeface="DejaVu Sans"/>
                </a:endParaRPr>
              </a:p>
            </p:txBody>
          </p:sp>
        </p:grpSp>
        <p:sp>
          <p:nvSpPr>
            <p:cNvPr id="151" name=""/>
            <p:cNvSpPr/>
            <p:nvPr/>
          </p:nvSpPr>
          <p:spPr>
            <a:xfrm>
              <a:off x="5935680" y="1371600"/>
              <a:ext cx="53172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en-US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  <a:ea typeface="ＭＳ Ｐゴシック"/>
                </a:rPr>
                <a:t>0111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7227720" y="2084400"/>
              <a:ext cx="54072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en-US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  <a:ea typeface="ＭＳ Ｐゴシック"/>
                </a:rPr>
                <a:t>1011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6732720" y="2511360"/>
              <a:ext cx="54072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en-US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  <a:ea typeface="ＭＳ Ｐゴシック"/>
                </a:rPr>
                <a:t>0110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5222520" y="3635280"/>
              <a:ext cx="54936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en-US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  <a:ea typeface="ＭＳ Ｐゴシック"/>
                </a:rPr>
                <a:t>0010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5244480" y="4513320"/>
              <a:ext cx="54936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en-US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  <a:ea typeface="ＭＳ Ｐゴシック"/>
                </a:rPr>
                <a:t>0000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5986080" y="5346720"/>
              <a:ext cx="54936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en-US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  <a:ea typeface="ＭＳ Ｐゴシック"/>
                </a:rPr>
                <a:t>0101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7000560" y="6043680"/>
              <a:ext cx="54936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en-US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  <a:ea typeface="ＭＳ Ｐゴシック"/>
                </a:rPr>
                <a:t>1001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8736120" y="4964040"/>
              <a:ext cx="54072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en-US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  <a:ea typeface="ＭＳ Ｐゴシック"/>
                </a:rPr>
                <a:t>1101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6235200" y="3749760"/>
              <a:ext cx="54936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en-US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  <a:ea typeface="ＭＳ Ｐゴシック"/>
                </a:rPr>
                <a:t>0100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6638400" y="3095640"/>
              <a:ext cx="54936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en-US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  <a:ea typeface="ＭＳ Ｐゴシック"/>
                </a:rPr>
                <a:t>1010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" name=""/>
          <p:cNvSpPr/>
          <p:nvPr/>
        </p:nvSpPr>
        <p:spPr>
          <a:xfrm>
            <a:off x="457200" y="1447920"/>
            <a:ext cx="5027040" cy="48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Zadatak je pokriti ON-skup malom kolekcijom implikanti (kocki) tako da:  </a:t>
            </a:r>
            <a:br>
              <a:rPr sz="2000"/>
            </a:b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Svaki ON minterm sadržan je u barem jednoj implikanti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Nijedna implikanta se ne preklapa sa OFF-skupom.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DC-skup se može slobodno koristiti za povećanje implikanti (radi pojednostavljenja izraza).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685800" y="1600200"/>
            <a:ext cx="7998840" cy="19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3040" bIns="0" anchor="t">
            <a:noAutofit/>
          </a:bodyPr>
          <a:p>
            <a:pPr>
              <a:lnSpc>
                <a:spcPct val="91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Računska kompleksnost:</a:t>
            </a:r>
            <a:br>
              <a:rPr sz="2000"/>
            </a:b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Quine McCluskey eksponencijalna O(3</a:t>
            </a:r>
            <a:r>
              <a:rPr b="0" lang="en-US" sz="2000" strike="noStrike" u="none" baseline="33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</a:t>
            </a: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1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Espresso ispoljava polinomijalnu kompleksnost u ralnoj praksi.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1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Postoje brojne varijacije Espresso algoritma uglavnom pod imenom “heuristic two-level logic optimization algorithms” 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1371600" y="293760"/>
            <a:ext cx="6855840" cy="10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6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Binary Decision Diagram </a:t>
            </a:r>
            <a:br>
              <a:rPr sz="3600"/>
            </a:br>
            <a:r>
              <a:rPr b="0" lang="en-US" sz="36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metoda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85800" y="1371600"/>
            <a:ext cx="7999920" cy="64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Grafička reprezentacija Booleove funkcije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Funkcija se opisuje kao usmereni aciklični graf odluka, ne kao izraz.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Kanončka i kompaktna forma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ROBDD (Reduced Ordered BDD) obezbeđuje jedinstvenu reprezentaciju za dati redosled promenljivih.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Efikasna manipulacija i verifikacija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Omogućava proveru ekvivalencije i formalnu verifikaciju bez eksplozije minterma.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Osnova metoda savremenih EDA (Electronic Design Automation) alta za equivalence checking, model checking i redukciju redundantne logika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3157560" y="3836160"/>
            <a:ext cx="3470760" cy="279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"/>
          <p:cNvSpPr/>
          <p:nvPr/>
        </p:nvSpPr>
        <p:spPr>
          <a:xfrm>
            <a:off x="2286000" y="4911480"/>
            <a:ext cx="7617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f=x’ y’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914400" y="1600200"/>
            <a:ext cx="7999920" cy="22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Iz svakog čvora grafa vode se dve grane, uobičajeno puna linija označava granu koja odgovara vrednosti 1 promenljivoj iz datog čvora i usmerena je ako je moguće udesno. Isprekidana linija označava granu koja odgovara vrednosti 0 iste promenljive i usmerena je po mogućstvu ulevo. Vrednost funkcije odgovara vrednosti terminalnog čvora (terminala) na kraju stabla, obično označen u četvrtastom polju. Iz njega nema izlaznih grana.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" descr=""/>
          <p:cNvPicPr/>
          <p:nvPr/>
        </p:nvPicPr>
        <p:blipFill>
          <a:blip r:embed="rId1"/>
          <a:stretch/>
        </p:blipFill>
        <p:spPr>
          <a:xfrm>
            <a:off x="3157560" y="3836160"/>
            <a:ext cx="3470760" cy="279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"/>
          <p:cNvSpPr/>
          <p:nvPr/>
        </p:nvSpPr>
        <p:spPr>
          <a:xfrm>
            <a:off x="2286000" y="4911480"/>
            <a:ext cx="7617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f=x’ y’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914400" y="1600200"/>
            <a:ext cx="7999920" cy="22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Liberation Mono;Courier New;Dej"/>
              </a:rPr>
              <a:t>Iz svakog čvora grafa vode se dve grane, uobičajeno puna linija označava granu koja odgovara vrednosti 1 promenljivoj iz datog čvora i usmerena je ako je moguće udesno. Isprekidana linija označava granu koja odgovara vrednosti 0 iste promenljive i usmerena je po mogućstvu ulevo. Vrednost funkcije odgovara vrednosti terminalnog čvora (terminala) na kraju stabla, obično označen u četvrtastom polju. Iz njega nema izlaznih grana.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4343400" y="2286000"/>
            <a:ext cx="4609440" cy="460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6F376AB5-DD62-4C32-8864-8E7B70E03816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1619280" y="115920"/>
            <a:ext cx="6046200" cy="5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6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Grejov (Gray) kod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5" name=""/>
          <p:cNvGraphicFramePr/>
          <p:nvPr/>
        </p:nvGraphicFramePr>
        <p:xfrm>
          <a:off x="562320" y="2632680"/>
          <a:ext cx="3048840" cy="4569480"/>
        </p:xfrm>
        <a:graphic>
          <a:graphicData uri="http://schemas.openxmlformats.org/drawingml/2006/table">
            <a:tbl>
              <a:tblPr/>
              <a:tblGrid>
                <a:gridCol w="504720"/>
                <a:gridCol w="324360"/>
                <a:gridCol w="317520"/>
                <a:gridCol w="317520"/>
                <a:gridCol w="316080"/>
                <a:gridCol w="317520"/>
                <a:gridCol w="317880"/>
                <a:gridCol w="316080"/>
                <a:gridCol w="317520"/>
              </a:tblGrid>
              <a:tr h="190440">
                <a:tc>
                  <a:txBody>
                    <a:bodyPr lIns="9360" rIns="9360" anchor="b">
                      <a:noAutofit/>
                    </a:bodyPr>
                    <a:p>
                      <a:endParaRPr b="0" lang="en-US" sz="3600" strike="noStrike" u="none">
                        <a:solidFill>
                          <a:srgbClr val="40458c"/>
                        </a:solidFill>
                        <a:effectLst/>
                        <a:uFillTx/>
                        <a:latin typeface="Tahoma"/>
                      </a:endParaRPr>
                    </a:p>
                  </a:txBody>
                  <a:tcPr anchor="b" marL="9360" marR="9360">
                    <a:lnL w="12240">
                      <a:noFill/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Binarni kod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288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Grejov kod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288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080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i. sloga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Y3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Y2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80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80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80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116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13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14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0160">
                <a:tc>
                  <a:txBody>
                    <a:bodyPr lIns="9360" rIns="9360" anchor="b">
                      <a:noAutofit/>
                    </a:bodyPr>
                    <a:p>
                      <a:pPr algn="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15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14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288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144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5156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44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6" name=""/>
          <p:cNvSpPr/>
          <p:nvPr/>
        </p:nvSpPr>
        <p:spPr>
          <a:xfrm>
            <a:off x="1371600" y="685800"/>
            <a:ext cx="7084440" cy="19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16000" indent="-216000">
              <a:lnSpc>
                <a:spcPct val="90000"/>
              </a:lnSpc>
              <a:spcBef>
                <a:spcPts val="513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Razlika između susednih kodnih reči 1 bit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513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Nije težinski kod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513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Pogodan za prenos brojačkih informacija između dva sistema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513"/>
              </a:spcBef>
              <a:spcAft>
                <a:spcPts val="11"/>
              </a:spcAft>
              <a:buClr>
                <a:srgbClr val="6f89f7"/>
              </a:buClr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Microsoft YaHei"/>
              </a:rPr>
              <a:t>Upotreba: </a:t>
            </a: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fifo pokazivači za CDC, RDC apsolutni enkoderi, altimetri,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06B7D00A-1086-4497-9E4E-7EEF8C6A90A8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1619280" y="115920"/>
            <a:ext cx="604620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6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Grejov (Gray) kod - minimizacija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1"/>
          <a:stretch/>
        </p:blipFill>
        <p:spPr>
          <a:xfrm>
            <a:off x="324000" y="1844640"/>
            <a:ext cx="2383560" cy="157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" descr=""/>
          <p:cNvPicPr/>
          <p:nvPr/>
        </p:nvPicPr>
        <p:blipFill>
          <a:blip r:embed="rId2"/>
          <a:stretch/>
        </p:blipFill>
        <p:spPr>
          <a:xfrm>
            <a:off x="324000" y="3429000"/>
            <a:ext cx="2380680" cy="156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" descr=""/>
          <p:cNvPicPr/>
          <p:nvPr/>
        </p:nvPicPr>
        <p:blipFill>
          <a:blip r:embed="rId3"/>
          <a:stretch/>
        </p:blipFill>
        <p:spPr>
          <a:xfrm>
            <a:off x="324000" y="5013360"/>
            <a:ext cx="2383560" cy="158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" descr=""/>
          <p:cNvPicPr/>
          <p:nvPr/>
        </p:nvPicPr>
        <p:blipFill>
          <a:blip r:embed="rId4"/>
          <a:stretch/>
        </p:blipFill>
        <p:spPr>
          <a:xfrm>
            <a:off x="3419640" y="1268280"/>
            <a:ext cx="1045440" cy="32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" descr=""/>
          <p:cNvPicPr/>
          <p:nvPr/>
        </p:nvPicPr>
        <p:blipFill>
          <a:blip r:embed="rId5"/>
          <a:stretch/>
        </p:blipFill>
        <p:spPr>
          <a:xfrm>
            <a:off x="3348000" y="1916280"/>
            <a:ext cx="2555280" cy="140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" descr=""/>
          <p:cNvPicPr/>
          <p:nvPr/>
        </p:nvPicPr>
        <p:blipFill>
          <a:blip r:embed="rId6"/>
          <a:stretch/>
        </p:blipFill>
        <p:spPr>
          <a:xfrm>
            <a:off x="3348000" y="3573360"/>
            <a:ext cx="2531520" cy="132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" descr=""/>
          <p:cNvPicPr/>
          <p:nvPr/>
        </p:nvPicPr>
        <p:blipFill>
          <a:blip r:embed="rId7"/>
          <a:stretch/>
        </p:blipFill>
        <p:spPr>
          <a:xfrm>
            <a:off x="3348000" y="5084640"/>
            <a:ext cx="2707920" cy="133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"/>
          <p:cNvSpPr/>
          <p:nvPr/>
        </p:nvSpPr>
        <p:spPr>
          <a:xfrm>
            <a:off x="6084720" y="1700280"/>
            <a:ext cx="1580760" cy="162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MDNF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MKNF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XOR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0EE85F8A-790A-419C-A06B-974C01179054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1619280" y="115920"/>
            <a:ext cx="604620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6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Grejov (Gray) kod - generalizacija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685800" y="1600200"/>
            <a:ext cx="7772040" cy="66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Konverzija iz binarnog u Gray-ov kod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B=b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n​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n−1​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…b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1​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0​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 binarni kod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G=g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n−1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…g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1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0  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Gray-ov kod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n​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=b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 , 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za i=n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​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i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=b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i+1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⊕b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i  , 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za i=n−1…0</a:t>
            </a:r>
            <a:br>
              <a:rPr sz="1000"/>
            </a:br>
            <a:br>
              <a:rPr sz="1000"/>
            </a:br>
            <a:br>
              <a:rPr sz="1000"/>
            </a:b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VHDL ralizacija: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sAGRAY(3) &lt;= sABIN(3);</a:t>
            </a:r>
            <a:br>
              <a:rPr sz="1800"/>
            </a:b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sAGRAY(2 downto 0) &lt;= sABIN(3 downto 1) xor sABIN(2 downto 0);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F736B0B2-69BB-4DD3-8EB1-3D3B78569C7D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619280" y="115920"/>
            <a:ext cx="604620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6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Grejov (Gray) kod - generalizacija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914400" y="1600560"/>
            <a:ext cx="7543440" cy="72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Konverzija iz Gray-ovog koda u binarni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B=b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n​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n−1​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…b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1​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0​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 binarni kod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G=g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n−1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…g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1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0  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Gray-ov kod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 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= 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n​ 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, za i=n</a:t>
            </a:r>
            <a:r>
              <a:rPr b="0" lang="en-US" sz="10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​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i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=b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i+1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⊕g</a:t>
            </a:r>
            <a:r>
              <a:rPr b="0" lang="en-US" sz="2800" strike="noStrike" u="none" baseline="-8000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i  , </a:t>
            </a:r>
            <a:r>
              <a:rPr b="0" lang="en-US" sz="2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za i=n−1…0</a:t>
            </a:r>
            <a:br>
              <a:rPr sz="2800"/>
            </a:br>
            <a:br>
              <a:rPr sz="2800"/>
            </a:b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VHDL ralizacija: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 sABIN(3)   &lt;=   sAGRAY(3);</a:t>
            </a:r>
            <a:br>
              <a:rPr sz="1800"/>
            </a:br>
            <a:r>
              <a:rPr b="0" lang="en-US" sz="18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  sABIN(2 downto 0) &lt;= sABIN(3 downto 1) xor sAGRAY(2 downto 0);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27B118F3-4908-4138-9064-9B11633BFE24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1619280" y="115920"/>
            <a:ext cx="6046200" cy="5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6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Grejov (Gray) kod – značaj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85800" y="1700280"/>
            <a:ext cx="8000640" cy="66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Gray kod u savremenom digitalnom hardveru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CDC, RDC i asinhroni FIFO</a:t>
            </a:r>
            <a:br>
              <a:rPr sz="2200"/>
            </a:br>
            <a:br>
              <a:rPr sz="2200"/>
            </a:b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Gray kod u CDC (Clock Domain Crossing)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Kod binarnih brojača više bita može da se promeni istovremeno → prijemni domen vidi nevalidna stanja.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Gray kod obezbeđuje da prijemni domen vidi uvek validnu vrednost, čak i ako se jedan bit koleba između 0  1.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CDC alati (Questa, Jasper, VC CDC) prepoznaju Gray pointere kao strukturno bezbedne</a:t>
            </a:r>
            <a:r>
              <a:rPr b="1" lang="en-US" sz="1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E14730BB-39B6-4F9F-9CE9-65045A4429B2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619280" y="115920"/>
            <a:ext cx="6046200" cy="5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6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Grejov (Gray) kod – značaj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685800" y="1700280"/>
            <a:ext cx="80006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Gray kod u RDC (Reset Domain Crossing)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Pri izlasku iz reseta različiti entiteti mogu da počnu da rade u različitim trenucima.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Binarni brojači mogu da generišu neuzastopne prelaze → greške u inicijalizaciji.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Gray kod garantuje monotone i jednociklične prelaze tokom i posle reseta → RDC stabilnost.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>
            <a:off x="3124080" y="6553080"/>
            <a:ext cx="2893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sr-Latn-C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LPRS I - PDS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858000" y="6553080"/>
            <a:ext cx="1902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D1C46A22-C8C2-4C03-8A3A-83DBA33C3EC6}" type="slidenum">
              <a:rPr b="0" lang="en-US" sz="1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1619280" y="115920"/>
            <a:ext cx="6046200" cy="5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9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36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Grejov (Gray) kod – značaj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685800" y="1700280"/>
            <a:ext cx="8000640" cy="45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2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Od kada je patentiran 1953, predstavlja pouzdan način prenošenja informacije između različitih blokova sistema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Mehanički rotacioni enkoderi, starije generacije Flash AD konvertora, pozicioni senzori, stare telefonske centrale... 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Disk sa prorezima rotira preko optičkih senzora.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Ako bi disk bio kodiran binarno, pri prelazu npr. 0111→1000 menjaju se 4 bita odjednom→ senzori gotovo nikad ne detektuju sve bitove u istom trenutku.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Rezultat: skokovito, pogrešno očitavanje položaja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000" strike="noStrike" u="none">
                <a:solidFill>
                  <a:srgbClr val="40458c"/>
                </a:solidFill>
                <a:effectLst/>
                <a:uFillTx/>
                <a:latin typeface="Tahoma"/>
                <a:ea typeface="DejaVu Sans"/>
              </a:rPr>
              <a:t>Glavna prednost Gray koda od sredine 20-og veka do danas ostaje ista: jednobitne, monotone, tranzicije bez parazitnih međustanja.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4327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2007-03-22T17:50:17Z</dcterms:created>
  <dc:creator>jelena basic</dc:creator>
  <dc:description/>
  <dc:language>en-US</dc:language>
  <cp:lastModifiedBy/>
  <cp:lastPrinted>2025-11-03T11:56:46Z</cp:lastPrinted>
  <dcterms:modified xsi:type="dcterms:W3CDTF">2025-11-20T14:04:26Z</dcterms:modified>
  <cp:revision>200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